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6" r:id="rId17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">
            <a:off x="10972800" y="-548640"/>
            <a:ext cx="22860" cy="2926080"/>
          </a:xfrm>
          <a:prstGeom prst="rect">
            <a:avLst/>
          </a:prstGeom>
          <a:solidFill>
            <a:srgbClr val="3A5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10991088" y="-548640"/>
            <a:ext cx="22860" cy="3063240"/>
          </a:xfrm>
          <a:prstGeom prst="rect">
            <a:avLst/>
          </a:prstGeom>
          <a:solidFill>
            <a:srgbClr val="3A5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520000">
            <a:off x="11009376" y="-548640"/>
            <a:ext cx="22860" cy="3200400"/>
          </a:xfrm>
          <a:prstGeom prst="rect">
            <a:avLst/>
          </a:prstGeom>
          <a:solidFill>
            <a:srgbClr val="3A5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240000">
            <a:off x="11027664" y="-548640"/>
            <a:ext cx="22860" cy="3337560"/>
          </a:xfrm>
          <a:prstGeom prst="rect">
            <a:avLst/>
          </a:prstGeom>
          <a:solidFill>
            <a:srgbClr val="3A5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3960000">
            <a:off x="11045952" y="-548640"/>
            <a:ext cx="22860" cy="3474720"/>
          </a:xfrm>
          <a:prstGeom prst="rect">
            <a:avLst/>
          </a:prstGeom>
          <a:solidFill>
            <a:srgbClr val="3A5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146304" cy="2377440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顧問諮詢簡報 · CONSULTANT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18288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有你蒸好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175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EAP Hybrid RAG 財報分析系統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94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以 EAP 平台 Hybrid RAG 為主、Gemini 為輔　·　冷數據 → 溫決策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B0CC"/>
                </a:solidFill>
                <a:latin typeface="Microsoft JhengHei"/>
                <a:ea typeface="Microsoft JhengHei"/>
                <a:cs typeface="Microsoft JhengHei"/>
              </a:rPr>
              <a:t>團隊名稱：＿＿＿＿＿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080000">
            <a:off x="10972800" y="-548640"/>
            <a:ext cx="22860" cy="292608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0">
            <a:off x="10991088" y="-548640"/>
            <a:ext cx="22860" cy="306324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520000">
            <a:off x="11009376" y="-548640"/>
            <a:ext cx="22860" cy="320040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240000">
            <a:off x="11027664" y="-548640"/>
            <a:ext cx="22860" cy="333756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960000">
            <a:off x="11045952" y="-548640"/>
            <a:ext cx="22860" cy="347472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POSITIONING · 冷數據 → 溫決策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把散落的財報，變成可信的溫決策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用 EAP 平台 Hybrid RAG，讓數字與說法都可回溯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69494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276856"/>
            <a:ext cx="457200" cy="45720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85416"/>
            <a:ext cx="5852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財報散落難整合　</a:t>
            </a: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PDF 簡報、法說會錄音、公開資訊觀測站，格式全不同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81528"/>
            <a:ext cx="69494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3300984"/>
            <a:ext cx="457200" cy="45720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09544"/>
            <a:ext cx="5852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術語各家不一致　</a:t>
            </a: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「手續費淨收益」vs「淨手續費收入」，配不起來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05656"/>
            <a:ext cx="69494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325112"/>
            <a:ext cx="457200" cy="45720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233672"/>
            <a:ext cx="5852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AI 易幻覺、無出處　</a:t>
            </a: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一般 LLM 直接生成數字，決策不能靠猜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2057400"/>
            <a:ext cx="3703320" cy="3639312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23317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我們的解方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971800"/>
            <a:ext cx="32004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EAP Hybrid RAG 統一檢索＋計算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數字用公式算、可驗證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說法附出處、可回溯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冷數據 → 人人可用的溫決策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080000">
            <a:off x="10972800" y="-548640"/>
            <a:ext cx="22860" cy="292608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0">
            <a:off x="10991088" y="-548640"/>
            <a:ext cx="22860" cy="306324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520000">
            <a:off x="11009376" y="-548640"/>
            <a:ext cx="22860" cy="320040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240000">
            <a:off x="11027664" y="-548640"/>
            <a:ext cx="22860" cy="333756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960000">
            <a:off x="11045952" y="-548640"/>
            <a:ext cx="22860" cy="347472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第一次諮詢重點 ① · 資料來源與處理流程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資料來源與處理流程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結構化＋非結構化，全流程解析、清洗、匯入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資料來源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86000"/>
            <a:ext cx="4937760" cy="118872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E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587752"/>
            <a:ext cx="164592" cy="164592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24871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結構化資料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5292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公開資訊觀測站財報數字（資產／負債／EPS…）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39312"/>
            <a:ext cx="4937760" cy="15544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950208"/>
            <a:ext cx="164592" cy="164592"/>
          </a:xfrm>
          <a:prstGeom prst="ellipse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384962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非結構化資料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24528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· 簡報 PDF → VLM 視覺解析成指標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· 法說會錄音 → STT 轉逐字稿　· 年報敘述章節 → 語意索引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874519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處理流程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2286000"/>
            <a:ext cx="5696712" cy="658368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53328" y="2331720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① 取得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33172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PDF／錄音／公開財報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3017520"/>
            <a:ext cx="569671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3063239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② 解析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063239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VLM 讀圖成指標、STT 轉文字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0" y="3749039"/>
            <a:ext cx="5696712" cy="658368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3794759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③ 清洗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794759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切段、單位補全、標記累計／層級、術語對齊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60" y="4480559"/>
            <a:ext cx="569671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53328" y="4526279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④ 匯入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526279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策展成唯一節點後匯入 EAP 圖譜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486400"/>
            <a:ext cx="1298448" cy="8686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486400"/>
            <a:ext cx="1298448" cy="54864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77840"/>
            <a:ext cx="12984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062472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金控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84832" y="5486400"/>
            <a:ext cx="1298448" cy="8686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84832" y="5486400"/>
            <a:ext cx="1298448" cy="54864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84832" y="5577840"/>
            <a:ext cx="12984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84832" y="6062472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期間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29584" y="5486400"/>
            <a:ext cx="1298448" cy="8686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29584" y="5486400"/>
            <a:ext cx="1298448" cy="54864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29584" y="5577840"/>
            <a:ext cx="12984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1,255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9584" y="6062472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結構化指標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74336" y="5486400"/>
            <a:ext cx="1298448" cy="8686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974336" y="5486400"/>
            <a:ext cx="1298448" cy="54864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74336" y="5577840"/>
            <a:ext cx="12984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846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74336" y="6062472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語意段落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080000">
            <a:off x="10972800" y="-548640"/>
            <a:ext cx="22860" cy="292608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0">
            <a:off x="10991088" y="-548640"/>
            <a:ext cx="22860" cy="306324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520000">
            <a:off x="11009376" y="-548640"/>
            <a:ext cx="22860" cy="320040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240000">
            <a:off x="11027664" y="-548640"/>
            <a:ext cx="22860" cy="333756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960000">
            <a:off x="11045952" y="-548640"/>
            <a:ext cx="22860" cy="347472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第一次諮詢重點 ① · 資料清洗與治理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資料治理：從碎片到唯一節點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解析出來還不夠——要策展成 AI 檢索不會出錯的結構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23160"/>
            <a:ext cx="2487168" cy="219456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9050">
            <a:solidFill>
              <a:srgbClr val="E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660904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① 盤點問題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37560"/>
            <a:ext cx="208483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·  211 個同名 ROE 節點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·  數值掛在關係上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13" name="Right Arrow 12"/>
          <p:cNvSpPr/>
          <p:nvPr/>
        </p:nvSpPr>
        <p:spPr>
          <a:xfrm>
            <a:off x="3072384" y="3337559"/>
            <a:ext cx="347472" cy="36576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38144" y="2423160"/>
            <a:ext cx="2487168" cy="219456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2660904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② 策展正規化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337560"/>
            <a:ext cx="208483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公司｜期間｜指標 唯一命名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累計別／層級／單位入欄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17" name="Right Arrow 16"/>
          <p:cNvSpPr/>
          <p:nvPr/>
        </p:nvSpPr>
        <p:spPr>
          <a:xfrm>
            <a:off x="5943600" y="3337559"/>
            <a:ext cx="347472" cy="36576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2423160"/>
            <a:ext cx="2487168" cy="219456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660904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③ 清空重建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3337560"/>
            <a:ext cx="208483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專案重設為空白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1,255 筆策展資料重匯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21" name="Right Arrow 20"/>
          <p:cNvSpPr/>
          <p:nvPr/>
        </p:nvSpPr>
        <p:spPr>
          <a:xfrm>
            <a:off x="8814816" y="3337559"/>
            <a:ext cx="347472" cy="36576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423160"/>
            <a:ext cx="2487168" cy="219456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9050">
            <a:solidFill>
              <a:srgbClr val="E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4" y="2660904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④ 驗證通過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3337560"/>
            <a:ext cx="208483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·  各期指標各自答對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·  單位涵蓋率 86%→99.3%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重建後圖譜 1,266 節點／2,512 關連。同一指標不同期各自正確，檢索不再跨期誤配；並稽核出 92 筆「億元／十億元」量級誤判與 13 筆跨年度假成長率——這是 RAG 答案品質的根本前提。</a:t>
            </a:r>
            <a:r>
              <a:rPr sz="15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080000">
            <a:off x="10972800" y="-548640"/>
            <a:ext cx="22860" cy="292608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0">
            <a:off x="10991088" y="-548640"/>
            <a:ext cx="22860" cy="306324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520000">
            <a:off x="11009376" y="-548640"/>
            <a:ext cx="22860" cy="320040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240000">
            <a:off x="11027664" y="-548640"/>
            <a:ext cx="22860" cy="333756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960000">
            <a:off x="11045952" y="-548640"/>
            <a:ext cx="22860" cy="347472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第一次諮詢重點 ② · 系統技術架構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系統技術架構 — 語意知識網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Semantic Knowledge Network：Graph（精準）＋ Vector（語意）雙軌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E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核心資料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Hybrid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79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使用情境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Use 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103120"/>
            <a:ext cx="4160520" cy="13716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286000"/>
            <a:ext cx="41605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Graph Data（GraphRAG）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指標關聯圖：公司→期間→指標→數值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103120"/>
            <a:ext cx="4343400" cy="1371600"/>
          </a:xfrm>
          <a:prstGeom prst="roundRect">
            <a:avLst>
              <a:gd name="adj" fmla="val 8000"/>
            </a:avLst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286000"/>
            <a:ext cx="4343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Vector Data（VectorRAG）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法說會逐字稿：切段後語意索引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657600"/>
            <a:ext cx="1280160" cy="6400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365760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個案指標表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657600"/>
            <a:ext cx="1280160" cy="6400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365760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期間節點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3657600"/>
            <a:ext cx="1280160" cy="6400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365760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數值屬性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3657600"/>
            <a:ext cx="1325880" cy="6400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3657600"/>
            <a:ext cx="1325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發債計畫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3657600"/>
            <a:ext cx="1325880" cy="6400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3657600"/>
            <a:ext cx="1325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獲利說明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3657600"/>
            <a:ext cx="1325880" cy="6400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0" y="3657600"/>
            <a:ext cx="1325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經理人問答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47091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4709160"/>
            <a:ext cx="2057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自動審核／分析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47091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80" y="4709160"/>
            <a:ext cx="2057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跨機構比較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47091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4709160"/>
            <a:ext cx="2057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法規／問答諮詢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47091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64040" y="4709160"/>
            <a:ext cx="2057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一鍵報告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6235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透過 公司ID／期間／指標名 跨表串接，Graph 提供可驗證數值、Vector 提供有出處的說法。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080000">
            <a:off x="10972800" y="-548640"/>
            <a:ext cx="22860" cy="292608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0">
            <a:off x="10991088" y="-548640"/>
            <a:ext cx="22860" cy="306324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520000">
            <a:off x="11009376" y="-548640"/>
            <a:ext cx="22860" cy="320040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240000">
            <a:off x="11027664" y="-548640"/>
            <a:ext cx="22860" cy="333756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960000">
            <a:off x="11045952" y="-548640"/>
            <a:ext cx="22860" cy="347472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第一次諮詢重點 ③ · 平台操作與介面構想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平台操作與介面構想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EAP 平台使用 ＋ 我們的網頁介面，兩層並呈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EAP 平台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後台匯入資料、建立 Hybrid RAG 對話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知識圖譜重建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每指標唯一節點，修好跨期間誤答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逐字串流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SSE 串流輸出，先報進度再逐字顯示，等待有回饋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六道防護　數字不符／引用別期／比較無效四色提示，一鍵取正解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/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Vector RAG 補強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EAP 查無資料時用本地逐字稿補上，來源標示清楚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無效比較攔截　平台拿全年累計比首季時標示，本地計算直接不給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/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部分驗證揭露　驗過幾筆、哪幾筆本地沒有，畫面上分得清楚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/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057400"/>
            <a:ext cx="557784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2057400"/>
            <a:ext cx="5577840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90488" y="2212848"/>
            <a:ext cx="146304" cy="146304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2212848"/>
            <a:ext cx="146304" cy="14630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2552" y="2212848"/>
            <a:ext cx="146304" cy="146304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130552"/>
            <a:ext cx="429767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有你蒸好 · 財報分析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429000"/>
            <a:ext cx="48463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EAP 平台 ＋ 網頁介面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（貼 EAP 平台／網頁截圖，或現場 Demo）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080000">
            <a:off x="10972800" y="-548640"/>
            <a:ext cx="22860" cy="292608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0">
            <a:off x="10991088" y="-548640"/>
            <a:ext cx="22860" cy="306324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520000">
            <a:off x="11009376" y="-548640"/>
            <a:ext cx="22860" cy="320040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240000">
            <a:off x="11027664" y="-548640"/>
            <a:ext cx="22860" cy="333756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960000">
            <a:off x="11045952" y="-548640"/>
            <a:ext cx="22860" cy="347472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第一次諮詢重點 ③ · QA 測試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QA 測試：檢索＋計算驗證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冷數據 → 溫決策：數字可驗證、說法有出處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① 計算驗證（本地指標庫）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834640"/>
            <a:ext cx="4846320" cy="59436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480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Q：中信金控的 ROE？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A：股東權益報酬率 =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18.32%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06240"/>
            <a:ext cx="4846320" cy="1280160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 w="12700">
            <a:solidFill>
              <a:srgbClr val="C6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89120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✓ 公式驗證：稅後淨利 ÷ 股東權益，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非 LLM 生成，可信、可稽核。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103120"/>
            <a:ext cx="5376672" cy="3657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3317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② 檢索驗證（EAP／VectorRAG）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834640"/>
            <a:ext cx="4828032" cy="594360"/>
          </a:xfrm>
          <a:prstGeom prst="roundRect">
            <a:avLst>
              <a:gd name="adj" fmla="val 8000"/>
            </a:avLst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880360"/>
            <a:ext cx="4480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Q：中信 2025Q2 發債計畫？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6616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A：各子公司均向董事會申請發債額度，依市場狀況分批發行。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709160"/>
            <a:ext cx="482803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82803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📄 來源：中信 2025Q2 法說會錄音 #4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每則答案附出處；六道防護攔下換算錯、跨期亂比、引用別期。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080000">
            <a:off x="10972800" y="-548640"/>
            <a:ext cx="22860" cy="292608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0">
            <a:off x="10991088" y="-548640"/>
            <a:ext cx="22860" cy="306324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520000">
            <a:off x="11009376" y="-548640"/>
            <a:ext cx="22860" cy="320040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240000">
            <a:off x="11027664" y="-548640"/>
            <a:ext cx="22860" cy="333756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960000">
            <a:off x="11045952" y="-548640"/>
            <a:ext cx="22860" cy="347472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第二次諮詢重點 ① · 實際介接 API 的畫面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實際介接 EAP Hybrid RAG Chat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把平台能力包裝成真正能用的產品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23160"/>
            <a:ext cx="2487168" cy="219456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9050">
            <a:solidFill>
              <a:srgbClr val="E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660904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① 使用者提問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37560"/>
            <a:ext cx="208483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網頁輸入問題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勾選 EAP 回答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72384" y="3337559"/>
            <a:ext cx="347472" cy="36576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38144" y="2423160"/>
            <a:ext cx="2487168" cy="219456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2660904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② 呼叫 EAP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337560"/>
            <a:ext cx="208483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POST /assistant/chat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帶專案 ID 與金鑰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43600" y="3337559"/>
            <a:ext cx="347472" cy="36576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2423160"/>
            <a:ext cx="2487168" cy="219456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660904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③ 平台 Hybrid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3337560"/>
            <a:ext cx="208483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VectorRAG＋GraphRAG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跨公司查詢自動拆解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14816" y="3337559"/>
            <a:ext cx="347472" cy="36576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423160"/>
            <a:ext cx="2487168" cy="219456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9050">
            <a:solidFill>
              <a:srgbClr val="E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4" y="2660904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④ 回網頁呈現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3337560"/>
            <a:ext cx="208483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SSE 逐字串流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圖表由本地指標庫補上、心跳維持連線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可延伸性：</a:t>
            </a:r>
            <a:r>
              <a:rPr sz="15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同一組 Hybrid RAG Chat API，換個前端就能介接到物流系統、旅遊 App、企業 IR 等不同應用提案。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">
            <a:off x="10972800" y="-548640"/>
            <a:ext cx="22860" cy="2926080"/>
          </a:xfrm>
          <a:prstGeom prst="rect">
            <a:avLst/>
          </a:prstGeom>
          <a:solidFill>
            <a:srgbClr val="3A5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10991088" y="-548640"/>
            <a:ext cx="22860" cy="3063240"/>
          </a:xfrm>
          <a:prstGeom prst="rect">
            <a:avLst/>
          </a:prstGeom>
          <a:solidFill>
            <a:srgbClr val="3A5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520000">
            <a:off x="11009376" y="-548640"/>
            <a:ext cx="22860" cy="3200400"/>
          </a:xfrm>
          <a:prstGeom prst="rect">
            <a:avLst/>
          </a:prstGeom>
          <a:solidFill>
            <a:srgbClr val="3A5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240000">
            <a:off x="11027664" y="-548640"/>
            <a:ext cx="22860" cy="3337560"/>
          </a:xfrm>
          <a:prstGeom prst="rect">
            <a:avLst/>
          </a:prstGeom>
          <a:solidFill>
            <a:srgbClr val="3A5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3960000">
            <a:off x="11045952" y="-548640"/>
            <a:ext cx="22860" cy="3474720"/>
          </a:xfrm>
          <a:prstGeom prst="rect">
            <a:avLst/>
          </a:prstGeom>
          <a:solidFill>
            <a:srgbClr val="3A5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第二次諮詢重點 ② · 最終技術與應用之架構圖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最終部署架構與市場成熟度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已上線、可介接、以 Vibe Coding 串接多 API 的完整系統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2286000" cy="11887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50592"/>
            <a:ext cx="2286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使用者瀏覽器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63240" y="2304288"/>
            <a:ext cx="502920" cy="45720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03320" y="2148840"/>
            <a:ext cx="2880360" cy="11887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25400">
            <a:solidFill>
              <a:srgbClr val="E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331720"/>
            <a:ext cx="2880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Render 雲端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FastAPI 前後端同源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720840" y="2304288"/>
            <a:ext cx="502920" cy="45720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60920" y="2148840"/>
            <a:ext cx="2011680" cy="493776"/>
          </a:xfrm>
          <a:prstGeom prst="roundRect">
            <a:avLst>
              <a:gd name="adj" fmla="val 8000"/>
            </a:avLst>
          </a:prstGeom>
          <a:solidFill>
            <a:srgbClr val="1E3654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148840"/>
            <a:ext cx="20116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EAP 平台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2148840"/>
            <a:ext cx="2011680" cy="493776"/>
          </a:xfrm>
          <a:prstGeom prst="roundRect">
            <a:avLst>
              <a:gd name="adj" fmla="val 8000"/>
            </a:avLst>
          </a:prstGeom>
          <a:solidFill>
            <a:srgbClr val="1E3654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148840"/>
            <a:ext cx="20116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Gemini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752344"/>
            <a:ext cx="2011680" cy="493776"/>
          </a:xfrm>
          <a:prstGeom prst="roundRect">
            <a:avLst>
              <a:gd name="adj" fmla="val 8000"/>
            </a:avLst>
          </a:prstGeom>
          <a:solidFill>
            <a:srgbClr val="1E3654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2752344"/>
            <a:ext cx="20116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ChromaDB 向量庫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2752344"/>
            <a:ext cx="2011680" cy="493776"/>
          </a:xfrm>
          <a:prstGeom prst="roundRect">
            <a:avLst>
              <a:gd name="adj" fmla="val 8000"/>
            </a:avLst>
          </a:prstGeom>
          <a:solidFill>
            <a:srgbClr val="1E3654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2752344"/>
            <a:ext cx="20116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Graph 指標資料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0332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38862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EAP 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3159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Hybrid RAG（V＋G）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02152" y="370332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8862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Gemini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3159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VLM／STT 資料管線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64224" y="370332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38862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ChromaDB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43159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向量語意檢索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26296" y="370332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27464" y="38862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python-docx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7464" y="43159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一鍵 Word 報告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074920"/>
            <a:ext cx="10908792" cy="1188720"/>
          </a:xfrm>
          <a:prstGeom prst="roundRect">
            <a:avLst>
              <a:gd name="adj" fmla="val 8000"/>
            </a:avLst>
          </a:prstGeom>
          <a:solidFill>
            <a:srgbClr val="1E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239512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已上線：</a:t>
            </a: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Render 公開網址即可使用；</a:t>
            </a: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EAP Hybrid RAG Chat API 可介接投研平台／券商 App／企業 IR。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以 Vibe Coding 短時間串成能跑、能 Demo、能部署的系統——具市場成熟度。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080000">
            <a:off x="10972800" y="-548640"/>
            <a:ext cx="22860" cy="292608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0">
            <a:off x="10991088" y="-548640"/>
            <a:ext cx="22860" cy="306324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520000">
            <a:off x="11009376" y="-548640"/>
            <a:ext cx="22860" cy="320040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240000">
            <a:off x="11027664" y="-548640"/>
            <a:ext cx="22860" cy="333756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960000">
            <a:off x="11045952" y="-548640"/>
            <a:ext cx="22860" cy="347472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第二次諮詢重點 ③ · 產品／應用介面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產品／應用介面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專為目標受眾設計的最終互動畫面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5349240" cy="14173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03120"/>
            <a:ext cx="109728" cy="1417320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235915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分析儀表板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2852927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核心指標、分組、趨勢、AI 觀點總結；支援觸控與鍵盤操作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103120"/>
            <a:ext cx="5349240" cy="14173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103120"/>
            <a:ext cx="109728" cy="1417320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35915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跨機構比較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52927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億元對齊、標準比率對照、雙序列圖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5349240" cy="14173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03320"/>
            <a:ext cx="109728" cy="1417320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" y="395935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問答與報告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445312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EAP Hybrid RAG 逐字串流、附圖、一鍵 Word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5349240" cy="14173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703320"/>
            <a:ext cx="109728" cy="1417320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95935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資料來源／上傳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45312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收錄概況、逐字稿、PDF/錄音上傳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建議：此頁貼實機截圖＋紅框圈重點＋編號說明，或現場實機操作。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">
            <a:off x="10972800" y="-548640"/>
            <a:ext cx="22860" cy="2926080"/>
          </a:xfrm>
          <a:prstGeom prst="rect">
            <a:avLst/>
          </a:prstGeom>
          <a:solidFill>
            <a:srgbClr val="3A5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10991088" y="-548640"/>
            <a:ext cx="22860" cy="3063240"/>
          </a:xfrm>
          <a:prstGeom prst="rect">
            <a:avLst/>
          </a:prstGeom>
          <a:solidFill>
            <a:srgbClr val="3A5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520000">
            <a:off x="11009376" y="-548640"/>
            <a:ext cx="22860" cy="3200400"/>
          </a:xfrm>
          <a:prstGeom prst="rect">
            <a:avLst/>
          </a:prstGeom>
          <a:solidFill>
            <a:srgbClr val="3A5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240000">
            <a:off x="11027664" y="-548640"/>
            <a:ext cx="22860" cy="3337560"/>
          </a:xfrm>
          <a:prstGeom prst="rect">
            <a:avLst/>
          </a:prstGeom>
          <a:solidFill>
            <a:srgbClr val="3A5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3960000">
            <a:off x="11045952" y="-548640"/>
            <a:ext cx="22860" cy="3474720"/>
          </a:xfrm>
          <a:prstGeom prst="rect">
            <a:avLst/>
          </a:prstGeom>
          <a:solidFill>
            <a:srgbClr val="3A5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146304" cy="1737360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0574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以 EAP Hybrid RAG 為核心，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把冷數據變成可信的溫決策。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資料驗證完成 · 技術架構奠定 · 已上線可介接——朝商業落地邁進。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754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Thank you　·　顧問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