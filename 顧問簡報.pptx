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28016" cy="228600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顧問簡報 · CONSULTANT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874519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0632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EAP Hybrid RAG 財報分析系統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886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以 EAP 平台 Hybrid RAG 為主、Gemini 為輔　·　冷數據 → 溫決策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B0CC"/>
                </a:solidFill>
                <a:latin typeface="Microsoft JhengHei"/>
                <a:ea typeface="Microsoft JhengHei"/>
                <a:cs typeface="Microsoft JhengHei"/>
              </a:rPr>
              <a:t>團隊名稱：＿＿＿＿＿＿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POSITIONING · 冷數據 → 溫決策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把散落的財報，變成可信的溫決策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用 EAP 平台的 Hybrid RAG，讓數字與說法都可回溯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69494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276856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85416"/>
            <a:ext cx="5943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財報資訊散落　</a:t>
            </a: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PDF 簡報、法說會錄音、公開資訊觀測站，格式全不同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81528"/>
            <a:ext cx="69494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300984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9544"/>
            <a:ext cx="5943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術語各家不一致　</a:t>
            </a: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「手續費淨收益」vs「淨手續費收入」——同義卻配不起來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05656"/>
            <a:ext cx="69494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325112"/>
            <a:ext cx="457200" cy="45720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233672"/>
            <a:ext cx="5943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跨機構不能直接比　</a:t>
            </a: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單位不同（百萬／十億／億），數字並排會誤導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057400"/>
            <a:ext cx="3611880" cy="37033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3774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我們的解方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108960"/>
            <a:ext cx="3063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Hybrid RAG 統一檢索＋計算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數字用公式算、可驗證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說法附出處、可回溯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2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冷數據 → 人人可用的溫決策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第一次諮詢重點 ① · 資料來源與處理流程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資料來源與處理流程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冷數據 → 溫決策：結構化＋非結構化，全流程解析、清洗、匯入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資料來源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95728"/>
            <a:ext cx="4937760" cy="123444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724912"/>
            <a:ext cx="164592" cy="164592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61518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結構化資料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公開資訊觀測站財報數字（資產／負債／EPS…）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67328"/>
            <a:ext cx="4937760" cy="15544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4096512"/>
            <a:ext cx="164592" cy="164592"/>
          </a:xfrm>
          <a:prstGeom prst="ellipse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98678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非結構化資料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70832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· 簡報 PDF → VLM 視覺解析成指標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· 法說會錄音 → STT 轉逐字稿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9659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處理流程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395728"/>
            <a:ext cx="5696712" cy="658368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441448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取得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441448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PDF／錄音／公開財報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127248"/>
            <a:ext cx="56967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53328" y="3172968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② 解析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172968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VLM 讀圖成指標、STT 轉文字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858768"/>
            <a:ext cx="5696712" cy="658368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3904487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③ 清洗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904487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切段、去雜訊、統一單位、標記累計、術語對齊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4590288"/>
            <a:ext cx="5696712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4636007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④ 匯入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636007"/>
            <a:ext cx="4297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EAP Hybrid RAG ＋ Graph／Vector 索引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23560"/>
            <a:ext cx="1298448" cy="8686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05856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9963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金控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84832" y="5623560"/>
            <a:ext cx="1298448" cy="8686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84832" y="5705856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2" y="619963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期間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9584" y="5623560"/>
            <a:ext cx="1298448" cy="8686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5705856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1,104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9584" y="619963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結構化指標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74336" y="5623560"/>
            <a:ext cx="1298448" cy="8686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74336" y="5705856"/>
            <a:ext cx="12984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619963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語意段落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85216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清洗重點：逐字稿切段、金額統一換算、累計指標標記、跨機構術語字典對齊。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第一次諮詢重點 ② · 系統技術架構（語意知識網）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系統技術架構 — 語意知識網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以 EAP 平台 Hybrid RAG 為核心引擎，Gemini 輔助解析與備援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使用者問題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33756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自然語言提問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自動辨識公司／期間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72384" y="3337559"/>
            <a:ext cx="347472" cy="365760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38144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9050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② AI Agent 路由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33756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判斷該算數字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還是找說法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3337559"/>
            <a:ext cx="347472" cy="365760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2E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③ EAP Hybrid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33756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VectorRAG 語意檢索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GraphRAG 精準計算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14816" y="3337559"/>
            <a:ext cx="347472" cy="365760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0576" y="2423160"/>
            <a:ext cx="2487168" cy="2194560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266090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④ 整合一致答案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33756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附數字驗證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＋趨勢圖／報告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核心：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平台 Hybrid RAG（VectorRAG＋GraphRAG）</a:t>
            </a:r>
            <a:r>
              <a:rPr sz="15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　｜　輔助：</a:t>
            </a: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Gemini（VLM 解析／STT 轉錄／備援 LLM）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15000"/>
            <a:ext cx="10908792" cy="658368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81558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數值一律由 GraphRAG 以公式計算，不是 LLM 生成——可信、可驗證、可稽核。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第一次諮詢重點 ③ · 平台操作與介面構想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平台操作與介面構想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EAP 平台使用 ＋ 我們的網頁介面，兩層並呈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平台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在 EAP 後台匯入資料、建立 Hybrid RAG 對話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網頁介面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手刻前端呼叫 EAP Chat API，包成好用的財報工具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四大功能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儀表板／跨機構比較／問答報告／資料來源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一鍵切換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EAP 平台回答（主）↔ Gemini（輔）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誠實標示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圖表註明資料來源，數字附驗證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965960"/>
            <a:ext cx="5605272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965960"/>
            <a:ext cx="56052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44768" y="2121408"/>
            <a:ext cx="146304" cy="14630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2121408"/>
            <a:ext cx="146304" cy="146304"/>
          </a:xfrm>
          <a:prstGeom prst="ellipse">
            <a:avLst/>
          </a:prstGeom>
          <a:solidFill>
            <a:srgbClr val="F5C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56831" y="2121408"/>
            <a:ext cx="146304" cy="14630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039112"/>
            <a:ext cx="4325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 · 財報分析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337560"/>
            <a:ext cx="487375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平台 ＋ 網頁介面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（此處貼實機截圖，或現場 Demo）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第一次諮詢重點 ③ · QA 測試（檢索＋計算驗證）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QA 測試：檢索＋計算驗證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把冷數據變成可信的溫決策——數字可驗證、說法有出處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94960" cy="379476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計算驗證（Graph RAG）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Q：中信金控的 ROE 是多少？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A：股東權益報酬率 =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18.32%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97680"/>
            <a:ext cx="4846320" cy="118872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C6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公式驗證：自有資本 ÷ 股東權益計算，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非 LLM 生成，可信、可稽核。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11680"/>
            <a:ext cx="5376672" cy="379476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40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② 檢索驗證（EAP／Vector RAG）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743200"/>
            <a:ext cx="4828032" cy="640080"/>
          </a:xfrm>
          <a:prstGeom prst="roundRect">
            <a:avLst>
              <a:gd name="adj" fmla="val 8000"/>
            </a:avLst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40"/>
            <a:ext cx="4480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Q：中信 2025Q2 的發債計畫？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20440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A：各子公司（金控／銀行／保險）均向董事會申請發債額度，依市場狀況分批發行。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709160"/>
            <a:ext cx="482803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8006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📄 來源：中信金控 2025Q2 法說會錄音 #4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每則答案都附出處，可回溯查證。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第二次諮詢重點 ① · 實際介接 API 的畫面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實際介接 EAP Hybrid RAG Chat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把平台能力包裝成真正能用的產品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46888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70662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使用者提問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38328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網頁輸入問題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勾選 EAP 平台回答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72384" y="3429000"/>
            <a:ext cx="347472" cy="365760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38144" y="246888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9050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70662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② 呼叫 EAP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38328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POST /assistant/chat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帶專案 ID 與金鑰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3429000"/>
            <a:ext cx="347472" cy="365760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46888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2E4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70662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③ 平台 Hybrid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38328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VectorRAG＋GraphRAG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2E4E7A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跨公司查詢自動拆解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14816" y="3429000"/>
            <a:ext cx="347472" cy="365760"/>
          </a:xfrm>
          <a:prstGeom prst="rightArrow">
            <a:avLst/>
          </a:prstGeom>
          <a:solidFill>
            <a:srgbClr val="767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0576" y="2468880"/>
            <a:ext cx="2487168" cy="2286000"/>
          </a:xfrm>
          <a:prstGeom prst="roundRect">
            <a:avLst>
              <a:gd name="adj" fmla="val 8000"/>
            </a:avLst>
          </a:prstGeom>
          <a:solidFill>
            <a:srgbClr val="F1ECF8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2706624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④ 回網頁呈現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383280"/>
            <a:ext cx="208483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Markdown 渲染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圖表由 Graph RAG 補上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可延伸性：</a:t>
            </a: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同一組 Hybrid RAG Chat API，換個前端就能介接到物流系統、旅遊 App、企業 IR 等不同應用提案。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第二次諮詢重點 ② · 最終技術與應用之架構圖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最終部署架構與市場成熟度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已上線、可介接、以 Vibe Coding 串接多個 API 的完整系統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2286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使用者瀏覽器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63240" y="2304288"/>
            <a:ext cx="502920" cy="50292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3320" y="2148840"/>
            <a:ext cx="2880360" cy="123444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25400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377440"/>
            <a:ext cx="2880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Render 雲端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FastAPI 前後端同源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20840" y="2304288"/>
            <a:ext cx="502920" cy="502920"/>
          </a:xfrm>
          <a:prstGeom prst="rightArrow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0920" y="2148840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148840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EAP 平台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148840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148840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Gemini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770632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770632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ChromaDB 向量庫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770632"/>
            <a:ext cx="2011680" cy="512064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770632"/>
            <a:ext cx="2011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Graph 指標資料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840480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279392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Hybrid RAG（Vector＋Graph）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02152" y="3657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3840480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279392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VLM／STT／備援 LLM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657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3840480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ChromaDB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279392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向量語意檢索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6296" y="3657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2E4E7A"/>
          </a:solidFill>
          <a:ln w="12700">
            <a:solidFill>
              <a:srgbClr val="4A66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27464" y="3840480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python-docx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4" y="4279392"/>
            <a:ext cx="2203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一鍵 Word 報告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20640"/>
            <a:ext cx="10908792" cy="1188720"/>
          </a:xfrm>
          <a:prstGeom prst="roundRect">
            <a:avLst>
              <a:gd name="adj" fmla="val 8000"/>
            </a:avLst>
          </a:prstGeom>
          <a:solidFill>
            <a:srgbClr val="162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8523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已上線：</a:t>
            </a: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公開網址即可使用（Render）；</a:t>
            </a: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Hybrid RAG Chat API 可介接投研平台／券商 App／企業 IR／物流／旅遊 App。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以 Vibe Coding（自然語言開發）短時間串成能跑、能 Demo、能部署的系統——具市場成熟度。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第二次諮詢重點 ③ · 實際提案的產品／應用介面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產品／應用介面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專為目標受眾設計的最終互動畫面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349240" cy="1600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39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分析儀表板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79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核心指標、分組、趨勢、AI 觀點總結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2103120"/>
            <a:ext cx="5349240" cy="1600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377439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跨機構比較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926079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億元對齊、標準比率對照、雙序列圖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5349240" cy="1600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59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問答與報告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EAP Hybrid RAG 對話、附圖、一鍵 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977639"/>
            <a:ext cx="5349240" cy="160020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4251959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資料來源／上傳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4800600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收錄概況、逐字稿、PDF/錄音上傳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28016" cy="155448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057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 EAP Hybrid RAG 為核心，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把冷數據變成可信的溫決策。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資料驗證完成 · 技術架構奠定 · 已上線可介接——朝商業落地邁進。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4846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Thank you　·　顧問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