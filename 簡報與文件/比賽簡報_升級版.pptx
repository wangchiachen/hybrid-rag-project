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62" r:id="rId9"/>
    <p:sldId id="263" r:id="rId10"/>
    <p:sldId id="264" r:id="rId11"/>
    <p:sldId id="274" r:id="rId12"/>
    <p:sldId id="265" r:id="rId13"/>
    <p:sldId id="266" r:id="rId14"/>
    <p:sldId id="267" r:id="rId15"/>
    <p:sldId id="276" r:id="rId16"/>
    <p:sldId id="268" r:id="rId17"/>
    <p:sldId id="269" r:id="rId18"/>
    <p:sldId id="270" r:id="rId19"/>
    <p:sldId id="271" r:id="rId20"/>
    <p:sldId id="272" r:id="rId21"/>
    <p:sldId id="273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⏱15s｜評審好，我們是「有你蒸好」。一句話：讓每個財報數字，可信、可比、看得懂。（停一下）接下來八分鐘帶大家看我們怎麼做到。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⏱10s｜我們五個人，從系統、前端到資料處理都自己來。直接進正題。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⏱35s｜每季都在做同一件苦差事：財報到處散（PDF／錄音／觀測站格式全不同）、名詞各講各的（手續費淨收益＝淨手續費收入卻兜不起來）、沒辦法比（百萬 vs 十億一擺就看錯）。丟給 ChatGPT？它會唬爛、講不出來源。投資決策不能用猜的。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⏱25s｜為什麼是我們？Excel＝純手工；一般 AI＝很會算錯還編數字。只有我們兩件一起做到：算得準，而且每個數字都點得出來源。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⏱25s｜三家金控全公開資料，最能凸顯「沒法並排比」的痛點。1,331 個結構化指標、947 段語意段落。簡報用 AI 看圖抽數字，法說會錄音自己轉逐字稿——這批逐字稿獨家有、平台沒有。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⏱20s｜資料分兩軌：Graph 管精準（指標關聯圖）、Vector 管語意（法說會逐字稿）。一個查得準，一個聽得懂人話。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⏱25s｜每個指標做成唯一節點（公司＋期間＋指標）。好處：同名指標跨季不共用點，跨期間答錯的老問題直接消失。紅＝子公司、綠＝指標，層級一眼看得出。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⏱30s｜流程：你問一句 → AI 判斷精算還是找說法 → EAP Hybrid RAG → 有驗證有出處的答案。主引擎 EAP，Gemini 幫忙看圖／轉語音／備援。重點：數字全是本地公式算出來的，不是 AI 生的——可信、驗得了、查得到。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⏱15s｜一句問題經改寫、對齊名詞、分流、生成四步，變成可信答案。（快速帶過）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⏱10s｜防 AI 亂講第一層：平台端把規矩寫死——不准換算單位、不准硬湊、查不到就說查不到。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⏱10s｜但光靠平台不夠，真正把關的是本地的交叉驗證——接下來就看到。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⏱25s｜亮點①：數字是算出來的、不是掰的。每個答案掛「✓ 公式驗證」；累計不跟單季亂比；漲跌自動算、紅漲綠跌。而且很老實——驗過幾筆、哪幾筆沒有都講清楚。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⏱25s｜亮點②：資料乾不乾淨才是 AI 可不可信的根本。原本光同名 ROE 就兩百多個點、單位二十幾種寫法，「拾億」被看成「億」少一位數。所以重建、逐一唯一節點、量級稽核——先對齊才敢說可信。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⏱12s｜怎麼證明？計算驗證：問「中信 ROE？」→ 18.32%，附公式。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⏱13s｜檢索驗證：問法說會 → 引用逐字稿原句、附出處。以 EAP 為主、本地六道防護守——平台算差十倍或張冠李戴，紅框當場標出。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⏱40s（放慢，重頭戲）｜（切畫面）儀表板：重點數字放大、坐後面也看得到；照財務意義分組；單位自動補齊、涵蓋率九成九、推的標星號；點卡片看六季走勢。冷財報變成一眼看得懂。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⏱40s｜跨機構比較（我最喜歡）：不同公司／單位／叫法，系統自動換億元、自動對齊。中信 ROE 18.32、玉山 14.43，兩家擺一起高下立判，還告訴你拿哪兩欄對齊，不是黑箱。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⏱40s｜問答：一個字一個字串流、先報進度不用乾等；公司期間鎖定免重打；平台查不到本地自動補上；一鍵匯出 Word。（可現場問「國泰各子公司稅後淨利」讓它當場列出）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⏱20s｜不是假象——已上線雲端、開網址就能用。瀏覽器／後端／EAP／Gemini／向量庫全串起來，一鍵出報告。真的做出來了。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⏱25s｜誰買單？券商投顧、金控 IR、投信基金。模式：B2B 訂閱＋API 授權。講白：本來人工三十分鐘，我們三十秒給你。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⏱15s｜收尾：用 EAP Hybrid RAG，讓財報人人看得懂、可信、可比。謝謝評審，準備好回答問題了。｜緊張就記一句：可信、可比、看得懂。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團隊名稱：有你蒸好　｜　凃思綺　何子嫻　楊于葳　王家蓁　林琮原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凃思綺、何子嫻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dirty="0" err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楊于葳</a:t>
            </a:r>
            <a:r>
              <a:rPr sz="2000" b="1" dirty="0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、</a:t>
            </a:r>
            <a:r>
              <a:rPr lang="zh-TW" altLang="en-US" sz="2000" b="1" dirty="0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林琮原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5" y="3448847"/>
            <a:ext cx="28803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zh-TW" altLang="en-US" sz="2000" b="1" dirty="0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王家蓁</a:t>
            </a:r>
            <a:endParaRPr sz="2000" b="1" dirty="0">
              <a:solidFill>
                <a:srgbClr val="1E3A5F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財報散、術語亂、不能比、易幻覺——投研每季的四大痛點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只有我們同時做到「精準計算 ＋ 可追溯出處」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三家金控、1,331 指標、947 段落，全公開可查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1,331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947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玉山——皆公開資料，最能凸顯「難以並排比較」的痛點；三家 2025 年報與 2025 各季財報均為上線後上傳新增，可持續擴充。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Graph 管精準、Vector 管語意，雙軌並行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E8654E"/>
                </a:solidFill>
                <a:latin typeface="Noto Sans TC"/>
              </a:rPr>
              <a:t>MODEL DESIGN · 語意知識網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Noto Sans TC"/>
              </a:rPr>
              <a:t>模型設計 — 每指標唯一節點 ＋ 關聯圖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767C87"/>
                </a:solidFill>
                <a:latin typeface="Noto Sans TC"/>
              </a:rPr>
              <a:t>✓ 1,331 個唯一節點＋維度關聯，跨期不再答錯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767C87"/>
                </a:solidFill>
                <a:latin typeface="Noto Sans TC"/>
              </a:rPr>
              <a:t>None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6766560" cy="3566160"/>
          </a:xfrm>
          <a:prstGeom prst="rect">
            <a:avLst/>
          </a:prstGeom>
          <a:solidFill>
            <a:srgbClr val="FAFBFC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3474720"/>
            <a:ext cx="6400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0" dirty="0">
                <a:solidFill>
                  <a:srgbClr val="767C87"/>
                </a:solidFill>
                <a:latin typeface="Noto Sans TC"/>
              </a:rPr>
              <a:t>（貼 </a:t>
            </a:r>
            <a:r>
              <a:rPr sz="1300" b="0" dirty="0" err="1">
                <a:solidFill>
                  <a:srgbClr val="767C87"/>
                </a:solidFill>
                <a:latin typeface="Noto Sans TC"/>
              </a:rPr>
              <a:t>EAP『探索關連』截圖：金控中心放射出子公司</a:t>
            </a:r>
            <a:r>
              <a:rPr sz="1300" b="0" dirty="0">
                <a:solidFill>
                  <a:srgbClr val="767C87"/>
                </a:solidFill>
                <a:latin typeface="Noto Sans TC"/>
              </a:rPr>
              <a:t>(紅)</a:t>
            </a:r>
            <a:r>
              <a:rPr sz="1300" b="0" dirty="0" err="1">
                <a:solidFill>
                  <a:srgbClr val="767C87"/>
                </a:solidFill>
                <a:latin typeface="Noto Sans TC"/>
              </a:rPr>
              <a:t>與關鍵指標</a:t>
            </a:r>
            <a:r>
              <a:rPr sz="1300" b="0" dirty="0">
                <a:solidFill>
                  <a:srgbClr val="767C87"/>
                </a:solidFill>
                <a:latin typeface="Noto Sans TC"/>
              </a:rPr>
              <a:t>(綠)）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2011680"/>
            <a:ext cx="3931920" cy="16916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35240" y="2011680"/>
            <a:ext cx="109728" cy="16916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79" y="2267712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E8654E"/>
                </a:solidFill>
                <a:latin typeface="Noto Sans TC"/>
              </a:rPr>
              <a:t>為什麼唯一節點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788920"/>
            <a:ext cx="3383279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公司｜期間｜指標 三者組唯一鍵，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數值掛屬性上。同名指標跨季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不共用節點——跨期間誤答消失。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3886200"/>
            <a:ext cx="3931920" cy="169164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635240" y="3886200"/>
            <a:ext cx="109728" cy="169164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79" y="4142232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2E7D46"/>
                </a:solidFill>
                <a:latin typeface="Noto Sans TC"/>
              </a:rPr>
              <a:t>關聯疊加（不破壞正確性）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663440"/>
            <a:ext cx="3383279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另加金控／子公司維度節點與邊，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指標節點仍唯一。紅＝子公司、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綠＝指標——層級一眼可見。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Noto Sans TC"/>
              </a:rPr>
              <a:t>顏色分層正是防呆的視覺化：不同層級適用不同法規，系統據此擋下跨層級比較。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F18792AE-F83D-4BF4-A64E-3F4ADDABFC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2800"/>
            <a:ext cx="6774767" cy="36281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EAP 為主引擎，Gemini 輔助、本地把關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主引擎：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備援：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Gemini（VLM／STT）＋本地 Vector RAG。EAP 查無資料時自動降級補上，來源標示清楚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數值一律由本地指標庫以公式計算，不是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一句問題，四道工序變成可信答案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只依證據回答、禁止編造（平台端＋本地端雙層）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依檢索證據回答，嚴禁編造。實測發現平台端提示詞在生成階段約束力有限，因此改由本地交叉驗證把關。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E8654E"/>
                </a:solidFill>
                <a:latin typeface="Noto Sans TC"/>
              </a:rPr>
              <a:t>CONTEXT ENGINEERING · 平台端設定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Noto Sans TC"/>
              </a:rPr>
              <a:t>情境工程 Context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767C87"/>
                </a:solidFill>
                <a:latin typeface="Noto Sans TC"/>
              </a:rPr>
              <a:t>✓ 防呆規則直接寫進平台生成階段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767C87"/>
                </a:solidFill>
                <a:latin typeface="Noto Sans TC"/>
              </a:rPr>
              <a:t>None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72800" cy="26974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42416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## Semantic Adjustment（術語對映）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  淨手續費收入 → 手續費淨收益　　NIM → 淨利息收益率　　逾放比 → 逾期放款比率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  ※ 實測：問「淨手續費收入」查無，對映後才查得到 17,977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2B3D55"/>
              </a:solidFill>
              <a:latin typeface="Noto Sans TC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## Setting for when unable to answer（查無資料時）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  明確回覆「未找到／未單獨揭露」並指出缺哪一塊；嚴禁臆測、不得用「可能」「通常」填補</a:t>
            </a:r>
          </a:p>
          <a:p>
            <a:pPr algn="l">
              <a:spcAft>
                <a:spcPts val="200"/>
              </a:spcAft>
            </a:pPr>
            <a:endParaRPr sz="1200" b="0">
              <a:solidFill>
                <a:srgbClr val="2B3D55"/>
              </a:solidFill>
              <a:latin typeface="Noto Sans TC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## Generate Response（生成回答）── 只放三條、放最前面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  1. 禁止換算單位、禁止推算數字（實測平台三次換算全錯）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  2. 只有「累計別」相同的數字能互相比較（3M26 只能比 3M25）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2B3D55"/>
                </a:solidFill>
                <a:latin typeface="Noto Sans TC"/>
              </a:rPr>
              <a:t>  3. 找不到就說找不到，不得用相近科目代答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34343"/>
                </a:solidFill>
                <a:latin typeface="Noto Sans TC"/>
              </a:rPr>
              <a:t>三個實測結論：① 寫「禁止句」不寫「流程描述」　② 規則指名資料欄位（累計別／單位／層級）　③ 生成階段規則要極少——六條時 A／C／E 全部失敗，模型只讀開頭幾句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E3A5F"/>
                </a:solidFill>
                <a:latin typeface="Noto Sans TC"/>
              </a:rPr>
              <a:t>改完必測：scripts/verify_eap_prompts.py（七題自動驗證，每題開新聊天室避免記憶污染）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本地指標庫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✓ 數字用公式算、附驗證，不是 LLM 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數值由本地指標庫以公式算出，非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累計防呆　跨季不亂比；平台拿全年比首季會被攔下標示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誠實揭露　驗過幾筆、哪幾筆本地沒有，畫面上分得清楚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✓ Garbage in, garbage out——資料治理是 RAG 可信的根本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✓ 冷數據變溫決策：算得準、有出處、雙引擎交叉核對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計算驗證（本地指標庫）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對美出口曝險？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A：對美出口曝險佔整體業務低於 1.5%，公司採審慎態度。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附出處可回溯；六道防護攔下換算錯、跨期亂比、引用別期。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>
            <a:extLst>
              <a:ext uri="{FF2B5EF4-FFF2-40B4-BE49-F238E27FC236}">
                <a16:creationId xmlns:a16="http://schemas.microsoft.com/office/drawing/2014/main" id="{1095D430-6670-42D0-8EB9-A15315CAB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534" y="4157221"/>
            <a:ext cx="6828320" cy="25474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TextBox 1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>
                <a:solidFill>
                  <a:srgbClr val="E8654E"/>
                </a:solidFill>
                <a:latin typeface="Noto Sans TC"/>
              </a:rPr>
              <a:t>PLATFORM QA · EAP 平台實機問答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E3A5F"/>
                </a:solidFill>
                <a:latin typeface="Noto Sans TC"/>
              </a:rPr>
              <a:t>平台 QA 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0">
                <a:solidFill>
                  <a:srgbClr val="767C87"/>
                </a:solidFill>
                <a:latin typeface="Noto Sans TC"/>
              </a:rPr>
              <a:t>✓ 以 EAP 為主引擎，本地六道防護把關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1672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>
                <a:solidFill>
                  <a:srgbClr val="767C87"/>
                </a:solidFill>
                <a:latin typeface="Noto Sans TC"/>
              </a:rPr>
              <a:t>None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9700" y="3100928"/>
            <a:ext cx="2499046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dirty="0">
                <a:solidFill>
                  <a:srgbClr val="1E3A5F"/>
                </a:solidFill>
                <a:latin typeface="Noto Sans TC"/>
              </a:rPr>
              <a:t>「</a:t>
            </a:r>
            <a:r>
              <a:rPr sz="1300" b="1" dirty="0" err="1">
                <a:solidFill>
                  <a:srgbClr val="1E3A5F"/>
                </a:solidFill>
                <a:latin typeface="Noto Sans TC"/>
              </a:rPr>
              <a:t>中信金控</a:t>
            </a:r>
            <a:r>
              <a:rPr sz="1300" b="1" dirty="0">
                <a:solidFill>
                  <a:srgbClr val="1E3A5F"/>
                </a:solidFill>
                <a:latin typeface="Noto Sans TC"/>
              </a:rPr>
              <a:t> 2026Q1 ROE？」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64102"/>
            <a:ext cx="3328605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dirty="0">
                <a:solidFill>
                  <a:srgbClr val="1E3A5F"/>
                </a:solidFill>
                <a:latin typeface="Noto Sans TC"/>
              </a:rPr>
              <a:t>「</a:t>
            </a:r>
            <a:r>
              <a:rPr sz="1300" b="1" dirty="0" err="1">
                <a:solidFill>
                  <a:srgbClr val="1E3A5F"/>
                </a:solidFill>
                <a:latin typeface="Noto Sans TC"/>
              </a:rPr>
              <a:t>中信</a:t>
            </a:r>
            <a:r>
              <a:rPr sz="1300" b="1" dirty="0">
                <a:solidFill>
                  <a:srgbClr val="1E3A5F"/>
                </a:solidFill>
                <a:latin typeface="Noto Sans TC"/>
              </a:rPr>
              <a:t> vs </a:t>
            </a:r>
            <a:r>
              <a:rPr sz="1300" b="1" dirty="0" err="1">
                <a:solidFill>
                  <a:srgbClr val="1E3A5F"/>
                </a:solidFill>
                <a:latin typeface="Noto Sans TC"/>
              </a:rPr>
              <a:t>玉山</a:t>
            </a:r>
            <a:r>
              <a:rPr sz="1300" b="1" dirty="0">
                <a:solidFill>
                  <a:srgbClr val="1E3A5F"/>
                </a:solidFill>
                <a:latin typeface="Noto Sans TC"/>
              </a:rPr>
              <a:t> ROE </a:t>
            </a:r>
            <a:r>
              <a:rPr sz="1300" b="1" dirty="0" err="1">
                <a:solidFill>
                  <a:srgbClr val="1E3A5F"/>
                </a:solidFill>
                <a:latin typeface="Noto Sans TC"/>
              </a:rPr>
              <a:t>比較</a:t>
            </a:r>
            <a:r>
              <a:rPr sz="1300" b="1" dirty="0">
                <a:solidFill>
                  <a:srgbClr val="1E3A5F"/>
                </a:solidFill>
                <a:latin typeface="Noto Sans TC"/>
              </a:rPr>
              <a:t>」→ </a:t>
            </a:r>
            <a:r>
              <a:rPr sz="1300" b="1" dirty="0" err="1">
                <a:solidFill>
                  <a:srgbClr val="1E3A5F"/>
                </a:solidFill>
                <a:latin typeface="Noto Sans TC"/>
              </a:rPr>
              <a:t>交叉驗證一致</a:t>
            </a:r>
            <a:endParaRPr sz="1300" b="1" dirty="0">
              <a:solidFill>
                <a:srgbClr val="1E3A5F"/>
              </a:solidFill>
              <a:latin typeface="Noto Sans T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1817561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dirty="0" err="1">
                <a:solidFill>
                  <a:srgbClr val="1E3A5F"/>
                </a:solidFill>
                <a:latin typeface="Noto Sans TC"/>
              </a:rPr>
              <a:t>比率題單位安全、平台答得準且附出處；本地交叉驗證即時比對，一致就通過、對不上就紅框標出</a:t>
            </a:r>
            <a:r>
              <a:rPr sz="1300" b="1" dirty="0">
                <a:solidFill>
                  <a:srgbClr val="1E3A5F"/>
                </a:solidFill>
                <a:latin typeface="Noto Sans TC"/>
              </a:rPr>
              <a:t>——EAP </a:t>
            </a:r>
            <a:r>
              <a:rPr sz="1300" b="1" dirty="0" err="1">
                <a:solidFill>
                  <a:srgbClr val="1E3A5F"/>
                </a:solidFill>
                <a:latin typeface="Noto Sans TC"/>
              </a:rPr>
              <a:t>為主、本地把關</a:t>
            </a:r>
            <a:r>
              <a:rPr sz="1300" b="1" dirty="0">
                <a:solidFill>
                  <a:srgbClr val="1E3A5F"/>
                </a:solidFill>
                <a:latin typeface="Noto Sans TC"/>
              </a:rPr>
              <a:t>。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465DC333-C2A9-4C33-85C9-7A8029C9A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534" y="2153793"/>
            <a:ext cx="6828320" cy="18695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載入不留白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冷啟動顯示骨架與進度，不是一片空白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趨勢與術語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sparkline、白話術語解釋；滑鼠、觸控、鍵盤三種操作都能開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3A54EEF-ABE9-4E62-8D2E-05A59D31C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4875" y="1307592"/>
            <a:ext cx="5763919" cy="40562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5915632"/>
            <a:ext cx="7315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C338612-ACD5-4D00-A911-5516600C0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376" y="500822"/>
            <a:ext cx="6178863" cy="3929393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270D980-91EE-4038-B805-5F87E27A5AD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7499"/>
          <a:stretch/>
        </p:blipFill>
        <p:spPr>
          <a:xfrm>
            <a:off x="4737376" y="4389678"/>
            <a:ext cx="6178864" cy="20063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逐字串流回答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串流，先報進度再逐字輸出，不用乾等十幾秒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六道防護　數字不符／引用別期／比較無效／未驗證，四色提示分嚴重度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查無時，標準指標直接用本地指標庫數字回答，其餘改用逐字稿檢索補強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資料管線　Gemini VLM／STT 供料，本地驗證把關，一鍵匯出 Word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FF58EF29-82B9-4A48-B776-0DCE0FA5F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19369"/>
            <a:ext cx="5719234" cy="358291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串成能跑、能 Demo、能部署的系統，並補強雲端實務：串流心跳、原子寫入、路徑清理。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dirty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</a:t>
            </a:r>
            <a:r>
              <a:rPr lang="en-US" sz="1700" b="1" dirty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B2B</a:t>
            </a:r>
            <a:endParaRPr sz="1700" b="1" dirty="0">
              <a:solidFill>
                <a:srgbClr val="E8654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1452</Words>
  <Application>Microsoft Office PowerPoint</Application>
  <PresentationFormat>寬螢幕</PresentationFormat>
  <Paragraphs>306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6" baseType="lpstr">
      <vt:lpstr>Noto Sans TC</vt:lpstr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>jenny wang</dc:creator>
  <cp:keywords/>
  <dc:description>generated using python-pptx</dc:description>
  <cp:lastModifiedBy>Jenny Wang-王家蓁-奇唯-醫療科技研發處C</cp:lastModifiedBy>
  <cp:revision>9</cp:revision>
  <dcterms:created xsi:type="dcterms:W3CDTF">2013-01-27T09:14:16Z</dcterms:created>
  <dcterms:modified xsi:type="dcterms:W3CDTF">2026-08-04T06:56:15Z</dcterms:modified>
  <cp:category/>
</cp:coreProperties>
</file>