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25"/>
    <p:sldId id="262" r:id="rId8"/>
    <p:sldId id="263" r:id="rId9"/>
    <p:sldId id="264" r:id="rId10"/>
    <p:sldId id="274" r:id="rId24"/>
    <p:sldId id="265" r:id="rId11"/>
    <p:sldId id="266" r:id="rId12"/>
    <p:sldId id="267" r:id="rId13"/>
    <p:sldId id="276" r:id="rId26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5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46304" cy="237744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2026 精誠資訊 AI 創新競賽 · 決賽簡報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8288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Hybrid RAG 財報分析系統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為投資決策導航，讓每個財報數字都可信、可比、看得懂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團隊名稱：＿＿＿＿＿　｜　林○○　余○○　魏○○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TEAM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團隊介紹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團隊成員、背景與分工（請填入實際內容）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43100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7380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19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分工：系統架構／後端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56148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4290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0428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分工：前端網頁／資料視覺化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69196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4290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＿＿＿＿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3476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86215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分工：資料處理／簡報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問題定義 — 外部資訊落差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投研與 IR 每季重複耗時、易錯的真實痛點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財報散落難整合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0944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72384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「手續費淨收益」vs「淨手續費收入」，同義卻配不起來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50208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41648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跨機構不能直接比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單位不同（百萬／十億／億），數字並排會誤導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19472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010912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AI 易幻覺、無出處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一般 LLM 直接生成數字，投資決策不能靠猜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2011680"/>
            <a:ext cx="3703320" cy="3803904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目標客戶（B2B）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880360"/>
            <a:ext cx="32004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券商投顧：加值研究工具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金控 IR／財務：跨機構對標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投信／基金：快速盡職調查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財經媒體／教育：可信素材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COMPETITIVE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競品分析 — 為什麼只有我們行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傳統工具與一般 LLM 都解決不了「精準 ＋ 可信」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ECEFF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傳統試算表／SQL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05740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ECEFF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1031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一般 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ChatGPT／Gemini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103120"/>
            <a:ext cx="295351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15768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7157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精準計算財務數值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15768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715768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純人工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15768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2715768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易算錯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715768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2715768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公式計算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74135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374135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跨機構術語對齊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374135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3374135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做不到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374135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3374135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配不起來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3374135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3374135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標準字典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32504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03250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中文語意檢索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032504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4032504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4032504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4032504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英文模型不準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4032504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0" y="4032504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中文混合檢索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690872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690872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防幻覺・可追溯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4690872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46908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無 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4690872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89320" y="46908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無來源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4690872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95360" y="4690872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附公式／出處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349240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349240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法說會非結構化解析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534924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83280" y="53492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無法處理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534924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89320" y="53492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內容易失真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5349240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95360" y="5349240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STT＋切段索引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資料集介紹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為什麼選金控財報：公開、可比、痛點明確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19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財報簡報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VLM 逐頁解析成指標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00600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法說會錄音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STT 轉逐字稿 → 切段索引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41080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公開資訊觀測站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財報數字（資產／負債／EPS）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金控機構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1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10711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10711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1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期間季度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1344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1,255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51976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51976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846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中信 · 國泰 · 玉山 · 第一金控——皆公開資料，最能凸顯「難以並排比較」的痛點；第一金控與三家 2025 年報均為上線後上傳新增，可持續擴充。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DATA STRUCTURE · 語意知識網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資料結構設計 — Semantic Knowledge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Hybrid Data：Graph（精準）＋ Vector（語意）雙軌並行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Hybrid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79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使用情境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10312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605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Graph Data（GraphRAG）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指標關聯圖：公司→期間→指標→數值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10312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286000"/>
            <a:ext cx="4343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Vector Data（VectorRAG）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法說會逐字稿：切段後語意索引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個案指標表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期間節點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數值屬性（單位／累計）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發債計畫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獲利說明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經理人問答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自動 Word 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2356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透過 公司ID／期間／指標名 跨表串接，Graph 提供可驗證數值、Vector 提供有出處的說法。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ARCHITECTURE · 技術應用深度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系統技術架構 — EAP Hybrid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核心＝EAP 平台 Hybrid RAG；Gemini 輔助解析與備援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① 使用者問題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自然語言提問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自動辨識公司／期間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38144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AI Agent 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判斷該算數字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還是找說法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EAP Hybrid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 語意檢索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GraphRAG 精準計算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14816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80576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④ 整合一致答案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附數字驗證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＋趨勢圖／報告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主引擎：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Hybrid RAG（VectorRAG＋GraphRAG）</a:t>
            </a: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　｜　備援：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Gemini（VLM／STT）＋本地 Vector RAG。EAP 查無資料時自動降級補上，來源標示清楚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76986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數值一律由本地指標庫以公式計算，不是 LLM 生成——可信、可驗證、可稽核。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RAG PIPELINE · 四階段自動化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Hybrid RAG 處理管線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一句問題，經四道工序變成可信答案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63039" y="2606040"/>
            <a:ext cx="1005840" cy="100584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改寫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補齊上下文與公司／期間背景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10127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47872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70832" y="2606040"/>
            <a:ext cx="1005840" cy="10058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對齊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Terminology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術語標準化（淨手續費收入＝手續費淨收益）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217919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55664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78624" y="2606040"/>
            <a:ext cx="1005840" cy="100584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意圖分流：撈 Graph 數據 或 Vector 說法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25711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63455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6415" y="2606040"/>
            <a:ext cx="1005840" cy="10058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63455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5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5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5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融合雙軌證據，附公式與出處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對應到系統：Agent 路由 ＋ 標準比率字典 ＋ 中文關鍵字混合檢索 ＋ 公式驗證。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Prompt 設計 — 防幻覺、可稽核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兩層設計：EAP 平台端 ＋ 本地端，讓 AI 只依證據回答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9728" cy="1645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19" y="2313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角色設定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財務分析助理：綜合解析結構化圖譜與非結構化法說會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5740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057400"/>
            <a:ext cx="109728" cy="16459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313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動態證據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注入 Hybrid RAG 撈到的『指標數據』與『法說會文本』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109728" cy="164592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41879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嚴格約束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0915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只依證據回答、禁止編造；累計指標標記、須附來源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109728" cy="164592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1879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標準化提問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70915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帶入經管線清洗後的問題（已改寫、術語對齊）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最高守則：100% 依檢索證據回答，嚴禁編造。實測發現平台端提示詞在生成階段約束力有限，因此改由本地交叉驗證把關。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技術亮點 ① · 本地指標庫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精準計算，數字可信可驗證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937760" cy="3657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434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LLM 直接產生的財務數字可能幻覺、算錯，投資決策不能靠猜。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03120"/>
            <a:ext cx="569671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77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92608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公式計算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數值由本地指標庫以公式算出，非 LLM 生成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公式驗證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答案附「✓ 公式驗證」讓人放心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累計防呆　跨季不亂比；平台拿全年比首季會被攔下標示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變化率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QoQ／YoY 自動算，台灣慣例上紅下綠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誠實揭露　驗過幾筆、哪幾筆本地沒有，畫面上分得清楚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技術亮點 ② · 資料治理與跨機構對齊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Garbage in, garbage out——資料治理是 RAG 可信的根本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937760" cy="3657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434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原始圖譜有 211 個同名 ROE 節點、數值掛在關係上，檢索常抓錯期間；單位寫法實測有 24 種，「拾億元」被誤判成「億元」，讓 92 筆存放款整批少一個量級。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03120"/>
            <a:ext cx="569671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77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92608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知識圖譜重建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每指標唯一節點（公司｜期間｜指標）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數值掛節點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不掛關係，結構上杜絕跨期誤配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量級稽核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回填 126 筆漏標、校正 150 筆換算錯誤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標準比率字典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ROE／ROA／NIM／EPS 依定義對齊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QA 驗證 · 技術深度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QA 測試：檢索＋計算驗證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冷數據 → 溫決策：數字可驗證、說法有出處、雙引擎交叉核對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計算驗證（本地指標庫）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4846320" cy="5943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Q：中信金控的 ROE？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A：股東權益報酬率 =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18.32%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C6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公式驗證：稅後淨利 ÷ 股東權益，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非 LLM 生成，可信、可稽核。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5376672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② 檢索驗證＋交叉核對（EAP）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834640"/>
            <a:ext cx="4828032" cy="594360"/>
          </a:xfrm>
          <a:prstGeom prst="roundRect">
            <a:avLst>
              <a:gd name="adj" fmla="val 8000"/>
            </a:avLst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 2025Q2 發債計畫？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A：各子公司均向董事會申請發債額度，依市場狀況分批發行。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09160"/>
            <a:ext cx="482803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828032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📄 來源：中信 2025Q2 法說會錄音 #4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附出處可回溯；六道防護攔下換算錯、跨期亂比、引用別期。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① · 介面呈現 15% /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核心指標卡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門面數字加大，投影機也看得清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依財務意義分組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獲利／資本／資產品質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單位自動補全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五層推定，涵蓋率 99.3%，推定值標＊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載入不留白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冷啟動顯示骨架與進度，不是一片空白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趨勢與術語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六期 sparkline、白話術語解釋；滑鼠、觸控、鍵盤三種操作都能開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201168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90488" y="2167128"/>
            <a:ext cx="146304" cy="146304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167128"/>
            <a:ext cx="146304" cy="14630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216712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084832"/>
            <a:ext cx="4297679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（貼實機截圖，或現場 Demo）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② ·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億元對齊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絕對金額換算億元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標準比率對照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名稱不同也配得起來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雙序列圖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長條＋成長率折線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誠實揭露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點對齊看對應欄位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缺漏單位推定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漏標自動補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201168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90488" y="2167128"/>
            <a:ext cx="146304" cy="146304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167128"/>
            <a:ext cx="146304" cy="14630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216712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084832"/>
            <a:ext cx="4297679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（貼實機截圖，或現場 Demo）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③ ·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問答與報告（EAP 為主）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逐字串流回答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SSE 串流，先報進度再逐字輸出，不用乾等十幾秒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範圍鎖定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選定公司／期間，後續提問免重打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六道防護　數字不符／引用別期／比較無效／未驗證，四色提示分嚴重度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Vector RAG 補強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查無資料時，改用本地逐字稿檢索再交由 EAP 生成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資料管線　Gemini VLM／STT 供料，本地驗證把關，一鍵匯出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2011680"/>
            <a:ext cx="557784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90488" y="2167128"/>
            <a:ext cx="146304" cy="146304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167128"/>
            <a:ext cx="146304" cy="14630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2552" y="216712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084832"/>
            <a:ext cx="4297679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（貼實機截圖，或現場 Demo）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DEPLOYMENT &amp; INNOVATION · 整合創新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部署架構與整合創新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已上線、可介接、以 Vibe Coding 串接多 API 的完整系統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03320" y="214884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23317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雲端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FastAPI 前後端同源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08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092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平台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Gemini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7523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ChromaDB 向量庫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27523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Graph 指標資料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RAG（V＋G）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VLM／STT／備援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向量語意檢索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27464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一鍵 Word 報告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239512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已上線：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公開網址即可使用；EAP Hybrid RAG Chat API 可介接投研平台／券商 App／企業 IR。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 Vibe Coding 串成能跑、能 Demo、能部署的系統，並補強雲端實務：串流心跳、原子寫入、路徑清理。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BENEFITS &amp; VALUE · 商業價值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效益與價值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誰在用、解決什麼、帶來什麼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使用者角色</a:t>
            </a:r>
            <a:r>
              <a:rPr lang="en-US" sz="1700" b="1" dirty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B2B</a:t>
            </a:r>
            <a:endParaRPr sz="1700" b="1" dirty="0">
              <a:solidFill>
                <a:srgbClr val="E8654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券商投顧：加值研究工具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金控 IR／財務：跨機構對標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投信／基金：快速盡職調查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財經媒體／教育：可信素材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商業模式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SaaS 訂閱：投研平台加值模組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API 授權：券商／IR 系統介接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0574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跨機構秒比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80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單位／術語自動對齊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20574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2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數字可信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880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公式計算＋驗證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9319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看得懂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術語白話化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39319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42062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47548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對話→Word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46304" cy="182880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 EAP Hybrid RAG 為核心，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讓財報人人看得懂、可信、可比。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已上線（Render）· 公開網址即可使用 · 現場實機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434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未來：延伸更多產業（不只金控）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更多語言的法說會、即時更新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Demo 走向可上線的投研工具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Q &amp; 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CONTEXT ENGINEERING · 平台端設定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情境工程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EAP 後台 Robot Settings：把防呆規則寫進平台生成階段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26974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Semantic Adjustment（術語對映）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淨手續費收入 → 手續費淨收益　　NIM → 淨利息收益率　　逾放比 → 逾期放款比率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※ 實測：問「淨手續費收入」查無，對映後才查得到 17,977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Setting for when unable to answer（查無資料時）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明確回覆「未找到／未單獨揭露」並指出缺哪一塊；嚴禁臆測、不得用「可能」「通常」填補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Generate Response（生成回答）── 只放三條、放最前面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1. 禁止換算單位、禁止推算數字（實測平台三次換算全錯）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2. 只有「累計別」相同的數字能互相比較（3M26 只能比 3M25）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3. 找不到就說找不到，不得用相近科目代答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三個實測結論：① 寫「禁止句」不寫「流程描述」　② 規則指名資料欄位（累計別／單位／層級）　③ 生成階段規則要極少——六條時 A／C／E 全部失敗，模型只讀開頭幾句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改完必測：scripts/verify_eap_prompts.py（七題自動驗證，每題開新聊天室避免記憶污染）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MODEL DESIGN · 語意知識網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模型設計 — 每指標唯一節點 ＋ 關聯圖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1,255 個唯一節點，另加維度關聯：金控→子公司、金控→關鍵指標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6766560" cy="3566160"/>
          </a:xfrm>
          <a:prstGeom prst="rect">
            <a:avLst/>
          </a:prstGeom>
          <a:solidFill>
            <a:srgbClr val="FAFBFC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4747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67C87"/>
                </a:solidFill>
                <a:latin typeface="Noto Sans TC"/>
              </a:rPr>
              <a:t>（貼 EAP『探索關連』截圖：金控中心放射出子公司(紅)與關鍵指標(綠)）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011680"/>
            <a:ext cx="3931920" cy="16916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2011680"/>
            <a:ext cx="109728" cy="169164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26771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654E"/>
                </a:solidFill>
                <a:latin typeface="Noto Sans TC"/>
              </a:rPr>
              <a:t>為什麼唯一節點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88920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公司｜期間｜指標 三者組唯一鍵，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數值掛屬性上。同名指標跨季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不共用節點——跨期間誤答消失。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886200"/>
            <a:ext cx="3931920" cy="16916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886200"/>
            <a:ext cx="109728" cy="169164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14223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46"/>
                </a:solidFill>
                <a:latin typeface="Noto Sans TC"/>
              </a:rPr>
              <a:t>關聯疊加（不破壞正確性）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663440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另加金控／子公司維度節點與邊，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指標節點仍唯一。紅＝子公司、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綠＝指標——層級一眼可見。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顏色分層正是防呆的視覺化：不同層級適用不同法規，系統據此擋下跨層級比較。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PLATFORM QA · EAP 平台實機問答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平台 QA 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以 EAP 為主引擎，本地六道防護把關——數字對、驗得了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「國泰世華銀行 2026Q1 稅後淨利？」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5486400" cy="3154680"/>
          </a:xfrm>
          <a:prstGeom prst="rect">
            <a:avLst/>
          </a:prstGeom>
          <a:solidFill>
            <a:srgbClr val="FAFBFC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6804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67C87"/>
                </a:solidFill>
                <a:latin typeface="Noto Sans TC"/>
              </a:rPr>
              <a:t>（貼 EAP 回答截圖：132 億元、附出處）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「國泰各子公司稅後淨利？」→ 觸發交叉驗證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423160"/>
            <a:ext cx="5120640" cy="3154680"/>
          </a:xfrm>
          <a:prstGeom prst="rect">
            <a:avLst/>
          </a:prstGeom>
          <a:solidFill>
            <a:srgbClr val="FAFBFC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680460"/>
            <a:ext cx="47548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67C87"/>
                </a:solidFill>
                <a:latin typeface="Noto Sans TC"/>
              </a:rPr>
              <a:t>（貼截圖：平台答＋本地紅框標出換算差）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重建圖譜後平台答對 132 億；平台若換算差 10 倍，本地紅框當場標出——EAP 為主、本地把關。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1186</Words>
  <Application>Microsoft Office PowerPoint</Application>
  <PresentationFormat>寬螢幕</PresentationFormat>
  <Paragraphs>277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Jenny Wang-王家蓁-奇唯-醫療科技研發處B</cp:lastModifiedBy>
  <cp:revision>4</cp:revision>
  <dcterms:created xsi:type="dcterms:W3CDTF">2013-01-27T09:14:16Z</dcterms:created>
  <dcterms:modified xsi:type="dcterms:W3CDTF">2026-07-29T02:17:58Z</dcterms:modified>
  <cp:category/>
</cp:coreProperties>
</file>