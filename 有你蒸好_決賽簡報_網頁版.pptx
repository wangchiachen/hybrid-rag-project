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128016" cy="2194560"/>
          </a:xfrm>
          <a:prstGeom prst="rect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8288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299923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Hybrid RAG 財報分析系統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7033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Vector RAG（語意檢索）  ＋  Graph RAG（精準計算）  ＋  AI Agent 路由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43159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讓散戶與分析師，秒懂並跨機構比較金控財報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B0CC"/>
                </a:solidFill>
                <a:latin typeface="Microsoft JhengHei"/>
                <a:ea typeface="Microsoft JhengHei"/>
                <a:cs typeface="Microsoft JhengHei"/>
              </a:rPr>
              <a:t>團隊名稱：＿＿＿＿＿＿　｜　2026 競賽 · 決賽簡報（網頁版）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TEAM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團隊介紹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團隊成員、背景與分工（請填入實際內容）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429000" cy="32004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43100" y="2331720"/>
            <a:ext cx="822960" cy="8229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95728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＿＿＿＿＿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2697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背景：＿＿＿＿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分工：系統架構／後端 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965960"/>
            <a:ext cx="3429000" cy="32004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56148" y="2331720"/>
            <a:ext cx="822960" cy="8229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2395728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338328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＿＿＿＿＿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4023360"/>
            <a:ext cx="2697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背景：＿＿＿＿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分工：前端網頁／資料視覺化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5" y="1965960"/>
            <a:ext cx="3429000" cy="32004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69196" y="2331720"/>
            <a:ext cx="822960" cy="8229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5" y="2395728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6" y="338328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＿＿＿＿＿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4023360"/>
            <a:ext cx="2697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背景：＿＿＿＿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分工：資料處理／簡報與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問題定義 — 外部資訊落差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投資人與分析師每季重複耗時的痛點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70408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203704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121408"/>
            <a:ext cx="6035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財報資訊散落　</a:t>
            </a:r>
            <a:r>
              <a:rPr sz="14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PDF 簡報、法說會錄音、公開資訊觀測站，格式全都不一樣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80944"/>
            <a:ext cx="70408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72968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090672"/>
            <a:ext cx="6035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術語各家不一致　</a:t>
            </a:r>
            <a:r>
              <a:rPr sz="14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「手續費淨收益」vs「淨手續費收入」——同義卻配不起來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50208"/>
            <a:ext cx="70408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4142232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059936"/>
            <a:ext cx="6035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跨機構不能直接比　</a:t>
            </a:r>
            <a:r>
              <a:rPr sz="14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單位不同（百萬／十億／億元），數字並排會誤導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19472"/>
            <a:ext cx="70408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5111496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029200"/>
            <a:ext cx="6035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一般人看不懂　</a:t>
            </a:r>
            <a:r>
              <a:rPr sz="14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ROE、NIM、資本適足率…專業術語門檻高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011680"/>
            <a:ext cx="3611880" cy="3803904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3317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為什麼重要？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063240"/>
            <a:ext cx="3063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25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散戶：想比較卻沒工具、看不懂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25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分析師／IR：每季手動整理，費時易錯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25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資訊落差 = 決策風險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25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把公開資料變成人人可用的洞察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DATASET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資料集介紹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為什麼選金控財報：公開、可比、痛點明確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19" y="2340864"/>
            <a:ext cx="182880" cy="18288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2240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財報簡報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8346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→ VLM 逐頁解析成結構化指標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6596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00600" y="2340864"/>
            <a:ext cx="182880" cy="182880"/>
          </a:xfrm>
          <a:prstGeom prst="ellipse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02352" y="2240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法說會錄音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8346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→ STT 轉逐字稿 → 語意索引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96596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41080" y="2340864"/>
            <a:ext cx="182880" cy="182880"/>
          </a:xfrm>
          <a:prstGeom prst="ellipse">
            <a:avLst/>
          </a:prstGeom>
          <a:solidFill>
            <a:srgbClr val="2E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42832" y="2240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E4E7A"/>
                </a:solidFill>
                <a:latin typeface="Microsoft JhengHei"/>
                <a:ea typeface="Microsoft JhengHei"/>
                <a:cs typeface="Microsoft JhengHei"/>
              </a:rPr>
              <a:t>公開資訊觀測站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346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→ 財務報表數字（資產／負債／EPS）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77639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5604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金控機構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3977639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0712" y="416052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495604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期間季度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3977639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1344" y="416052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1,104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495604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結構化指標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1976" y="3977639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1976" y="416052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313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1976" y="495604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語意段落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中信金控 · 國泰金控 · 玉山金控 · 第一金控——皆為公開資料，跨機構結構相近、最能凸顯「難以並排比較」的真實痛點。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ARCHITECTURE · 技術應用深度 20%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系統架構 — Hybrid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使用者一句話問題，雙引擎並行、AI Agent 智慧路由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468880"/>
            <a:ext cx="2487168" cy="228600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724912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① 使用者問題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429000"/>
            <a:ext cx="20848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自然語言提問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自動辨識公司／期間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72384" y="3410712"/>
            <a:ext cx="347472" cy="402336"/>
          </a:xfrm>
          <a:prstGeom prst="rightArrow">
            <a:avLst/>
          </a:prstGeom>
          <a:solidFill>
            <a:srgbClr val="767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38144" y="2468880"/>
            <a:ext cx="2487168" cy="2286000"/>
          </a:xfrm>
          <a:prstGeom prst="roundRect">
            <a:avLst>
              <a:gd name="adj" fmla="val 8000"/>
            </a:avLst>
          </a:prstGeom>
          <a:solidFill>
            <a:srgbClr val="F1ECF8"/>
          </a:solidFill>
          <a:ln w="19050"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2724912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② AI Agent 路由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429000"/>
            <a:ext cx="20848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判斷該算數字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還是找說法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600" y="3410712"/>
            <a:ext cx="347472" cy="402336"/>
          </a:xfrm>
          <a:prstGeom prst="rightArrow">
            <a:avLst/>
          </a:prstGeom>
          <a:solidFill>
            <a:srgbClr val="767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2468880"/>
            <a:ext cx="2487168" cy="228600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9050">
            <a:solidFill>
              <a:srgbClr val="2E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724912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2E4E7A"/>
                </a:solidFill>
                <a:latin typeface="Microsoft JhengHei"/>
                <a:ea typeface="Microsoft JhengHei"/>
                <a:cs typeface="Microsoft JhengHei"/>
              </a:rPr>
              <a:t>③ 雙引擎並行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3429000"/>
            <a:ext cx="20848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2E4E7A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Graph RAG：公式精準計算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2E4E7A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Vector RAG：語意檢索法說會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14816" y="3410712"/>
            <a:ext cx="347472" cy="402336"/>
          </a:xfrm>
          <a:prstGeom prst="rightArrow">
            <a:avLst/>
          </a:prstGeom>
          <a:solidFill>
            <a:srgbClr val="767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80576" y="2468880"/>
            <a:ext cx="2487168" cy="2286000"/>
          </a:xfrm>
          <a:prstGeom prst="roundRect">
            <a:avLst>
              <a:gd name="adj" fmla="val 8000"/>
            </a:avLst>
          </a:prstGeom>
          <a:solidFill>
            <a:srgbClr val="F1ECF8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4" y="2724912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④ 整合一致答案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3429000"/>
            <a:ext cx="20848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附數字驗證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＋趨勢圖／報告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建構於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EAP 平台的 Hybrid RAG（VectorRAG ＋ GraphRAG）</a:t>
            </a:r>
            <a:r>
              <a:rPr sz="15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，並以 AI Agent 串接多個 API——展現資料理解與關聯推理能力。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0644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888736"/>
            <a:ext cx="10515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核心原則：數值一律由 Graph RAG 以公式計算，</a:t>
            </a:r>
            <a:r>
              <a:rPr sz="13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不是 LLM 生成——可信、可驗證。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技術亮點 ① · Graph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精準計算，數字可信可驗證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4937760" cy="384048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痛點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4348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LLM 直接產生的財務數字可能「幻覺」、算錯或憑空生成，投資決策不能靠猜。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965960"/>
            <a:ext cx="5696712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22402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解法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788920"/>
            <a:ext cx="51206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公式計算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每個數值由 Graph RAG 以公式算出，非 LLM 生成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公式驗證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答案附「✓ 公式驗證：ROE = 18.32%」讓人放心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累計指標防呆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「年初至今累計」跨季不亂比，避免誤判暴跌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QoQ／YoY 變化率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自動計算並標示台灣慣例：上紅下綠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技術亮點 ② · 跨機構語意對齊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術語不一致？照樣對得起來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4937760" cy="384048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痛點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4348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各家用詞不同：中信「股東權益報酬率(ROE)」、國泰「9M25 ROE」、玉山「ROE」；金額單位也不同（百萬／十億／億）。逐字比對配不起來。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965960"/>
            <a:ext cx="5696712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22402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解法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788920"/>
            <a:ext cx="51206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標準比率字典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ROE／ROA／NIM／EPS 用人工維護的定義對齊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絕對金額換算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自動統一換算成「億元」再並排比較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誠實揭露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滑鼠移到「對齊」看實際對應的原始欄位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高精確度優先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寧可少配、也不配錯，避免誤導決策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技術亮點 ③ · AI Agent ＋ EAP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智慧路由，串接 EAP 平台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4937760" cy="384048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痛點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4348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問題百百種：有的要精準數字、有的要經理人說法、有的兩者都要。單一檢索器會漏抓或答非所問。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965960"/>
            <a:ext cx="5696712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22402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解法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788920"/>
            <a:ext cx="51206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Agent 路由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自動判斷 CALC／NARRATIVE／BOTH 三種路線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EAP 平台整合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串接 EAP 的 Hybrid RAG，跨公司查詢自動拆解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圖表指令解析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把 EAP 的畫圖指令＋資料表變成互動圖表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雙前端共存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Gemini 版與 EAP 版一鍵切換，同一套資料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DEMO ① · 介面呈現 15% / Demo 30%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分析儀表板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核心指標卡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金控門面數字加大加粗，投影機也看得清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依財務意義分組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獲利／資本／資產品質…照邏輯瀏覽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懸停看趨勢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滑過卡片顯示六期 sparkline 走勢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AI 觀點總結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一鍵讓 AI 讀完本期數字給一句話結論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術語 tooltip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ROE／NIM 滑上去看白話定義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965960"/>
            <a:ext cx="5605272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1965960"/>
            <a:ext cx="5605272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44768" y="2121408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0" y="2121408"/>
            <a:ext cx="146304" cy="146304"/>
          </a:xfrm>
          <a:prstGeom prst="ellipse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56831" y="2121408"/>
            <a:ext cx="146304" cy="146304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039112"/>
            <a:ext cx="432511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 · 財報分析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337560"/>
            <a:ext cx="487375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分析儀表板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（此處貼上實機操作截圖，或現場 Demo）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DEMO ② · Demo 30%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億元對齊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絕對金額自動換算成億元，並排才有意義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標準比率對照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名稱不同也配得起來（ROE／ROA／NIM…）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雙序列圖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長條＋成長率折線，一眼看出高下與動能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誠實揭露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點「對齊」看實際對應欄位，非黑箱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缺漏單位推定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某期漏標單位，用其他期間補回並標註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965960"/>
            <a:ext cx="5605272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1965960"/>
            <a:ext cx="5605272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44768" y="2121408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0" y="2121408"/>
            <a:ext cx="146304" cy="146304"/>
          </a:xfrm>
          <a:prstGeom prst="ellipse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56831" y="2121408"/>
            <a:ext cx="146304" cy="146304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039112"/>
            <a:ext cx="432511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 · 財報分析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337560"/>
            <a:ext cx="487375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跨機構比較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（此處貼上實機操作截圖，或現場 Demo）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DEMO ③ · Demo 30%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問答與報告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Hybrid RAG 對話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三種路由徽章，看得出走哪條引擎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答案附圖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牽涉指標時自動畫出歷史趨勢圖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EAP 開關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一鍵切換 EAP 平台回答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自動辨識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公司／期間直接打在問題裡即可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一鍵匯出 Word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真表格＋嵌入圖表的財務分析報告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965960"/>
            <a:ext cx="5605272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1965960"/>
            <a:ext cx="5605272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44768" y="2121408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0" y="2121408"/>
            <a:ext cx="146304" cy="146304"/>
          </a:xfrm>
          <a:prstGeom prst="ellipse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56831" y="2121408"/>
            <a:ext cx="146304" cy="146304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039112"/>
            <a:ext cx="432511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 · 財報分析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337560"/>
            <a:ext cx="487375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問答與報告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（此處貼上實機操作截圖，或現場 Demo）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DEMO ④ · Demo 30%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資料來源總覽 ＋ 上傳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收錄概況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公司數／期間／指標／語意段落一目了然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收錄明細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各公司各期的指標量與語意段落數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逐字稿檢視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法說會錄音轉出的逐字稿可直接讀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上傳新資料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PDF→VLM／錄音→STT，背景解析＋進度條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即時擴充　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上傳完自動更新，其他頁馬上看得到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965960"/>
            <a:ext cx="5605272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1965960"/>
            <a:ext cx="5605272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44768" y="2121408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0" y="2121408"/>
            <a:ext cx="146304" cy="146304"/>
          </a:xfrm>
          <a:prstGeom prst="ellipse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56831" y="2121408"/>
            <a:ext cx="146304" cy="146304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039112"/>
            <a:ext cx="432511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 · 財報分析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337560"/>
            <a:ext cx="487375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資料來源總覽 ＋ 上傳新資料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（此處貼上實機操作截圖，或現場 Demo）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介面設計與系統呈現 · 15%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介面設計與系統呈現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純手刻網頁，清楚易懂、具設計感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276856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純手刻前端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70632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HTML／CSS／JS，無框架，完全掌握每個細節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5740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6592" y="2276856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財報狗風格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2770632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灰底白卡、近直角、無陰影——台灣金融視覺語言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05740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7072" y="2276856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Plotly 互動圖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770632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長條／折線／趨勢，可懸停、可讀值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197096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一致設計語言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690872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深藍主色、術語 tooltip、狀態徽章貫穿全站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977639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4197096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響應式版面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4690872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投影機／筆電／手機都排得好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3977639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7072" y="4197096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FastAPI 同源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4690872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前後端同一服務，無 CORS、部署簡單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整合創新能力 · 15%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整合創新 — Vibe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以自然語言開發，把多個 API 組成一個完整的 AI 應用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2E4E7A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VLM 解析簡報 · STT 轉錄音 · LLM 問答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237744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2E4E7A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265176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EAP 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3337560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Hybrid RAG（VectorRAG＋GraphRAG）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237744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2E4E7A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2824" y="265176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ChromaDB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2824" y="3337560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向量資料庫，語意檢索法說會段落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26296" y="237744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2E4E7A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54896" y="265176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python-docx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4896" y="3337560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自動生成 Word 分析報告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29200"/>
            <a:ext cx="10908792" cy="1234440"/>
          </a:xfrm>
          <a:prstGeom prst="roundRect">
            <a:avLst>
              <a:gd name="adj" fmla="val 8000"/>
            </a:avLst>
          </a:prstGeom>
          <a:solidFill>
            <a:srgbClr val="162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3036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跨領域整合：</a:t>
            </a: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財務知識 ＋ 自然語言處理 ＋ 資料視覺化 ＋ 全端網頁——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 Vibe Coding 在短時間內把它們串成一個能跑、能 Demo、能部署的系統。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BENEFITS &amp; VALUE · 應用情境與商業價值 20%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效益與價值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誰在用、解決什麼、帶來什麼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使用者角色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散戶投資人：看不懂也能秒比較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分析師／研究員：省下每季手動整理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金控 IR／財務：快速跨機構對標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5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財經學生：互動學習真實財報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商業應用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券商投顧、投資理財平台加值功能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企業 IR 對標與內部分析工具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01168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跨機構秒比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88036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單位／術語自動對齊，並排即懂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88552" y="201168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7152" y="22860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數字可信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288036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公式計算＋驗證，不怕 AI 幻覺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25196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52628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看得懂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12064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術語白話化，門檻大幅降低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8552" y="425196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452628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一鍵報告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512064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對話→Word 報告，含表格與圖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011680"/>
            <a:ext cx="128016" cy="1828800"/>
          </a:xfrm>
          <a:prstGeom prst="rect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9659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把散落的財報，變成人人看得懂、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可信、可比的洞察。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3703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已上線：FastAPI ＋ 手刻網頁，部署於 Render，公開網址即可使用。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4343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5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未來：延伸更多產業（不只金控）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5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更多語言的法說會、即時更新的資料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5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從 Demo 走向可上線的投研工具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5989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Thank you　·　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