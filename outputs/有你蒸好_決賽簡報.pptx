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開場：我們是「有你蒸好」，是「有你真好」的諧音。我們用 Hybrid RAG 把非結構化財報變成可問答、可精準計算的知識庫。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請填入團隊成員、背景與分工。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痛點是「外部資訊落差」。而且這三個陷阱會讓天真的 RAG 給出錯誤答案——這正是我們要解決的。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資料全部來自公開資訊觀測站與各公司投資人關係網站。選這三家是因為業務結構不同，比較才有意義。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核心：語意的事給 Vector RAG，計算的事給 Graph RAG。LLM 負責組織語言，不負責算數字。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這頁是技術核心。非結構化不是障礙，是題目本身。VLM 就是那座橋。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技術深度重點：我們用了 EAP 平台的兩套系統——Data Explorer 建知識圖譜、Document Management 做文件問答，並用 Chat API 串接。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路由讓系統知道什麼時候該算、什麼時候該找語意。介面上會顯示 badge，使用者知道答案怎麼來的。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這裡切到實機。四個分頁各展示一個能力。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接下來四頁是核心價值：不是「做出一個能跑的系統」，是「發現這個系統會怎麼騙人，然後修好」。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這是平台級的 bug，不是我們的 bug。現場可以示範：直接問平台會答錯，用我們的 app 就對。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單位不是小事。它決定了「23,104 vs 31.7」到底誰比較大——差 100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累計指標只有同一季跨年度能比，跨季比較沒有意義——我們的系統會拒絕給數字，而不是給錯的。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這頁展現工程判斷：知道工具的極限，並做出正確取捨。寧可功能陽春，也不展示會配錯的東西。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Vibe Coding 的重點不是「AI 幫我寫」，是「我用自然語言驅動，但每一步都自己驗證」。59 筆的例子就是證明——直覺做法會弄丟資料，驗證救了它。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價值不只在金融。這套抽取層＋知識圖譜的架構，換一組 PDF 就能套到任何產業。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收尾：這個系統的價值不在於它不會錯，而在於它知道自己會怎麼錯——單位、累計、檢索漏抓——並且擋下來。謝謝。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 spc="600">
                <a:solidFill>
                  <a:srgbClr val="CADCFC"/>
                </a:solidFill>
                <a:latin typeface="Microsoft JhengHei"/>
              </a:rPr>
              <a:t>有你蒸好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Microsoft JhengHei"/>
              </a:rPr>
              <a:t>財報分析，有你真好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Microsoft JhengHei"/>
              </a:rPr>
              <a:t>以 Hybrid RAG 打通非結構化財報：VLM 抽取 ＋ Vector RAG ＋ Graph RAG ＋ AI Agent 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Microsoft JhengHei"/>
              </a:rPr>
              <a:t>家金控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45720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Microsoft JhengHei"/>
              </a:rPr>
              <a:t>個期間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5720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1,374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Microsoft JhengHei"/>
              </a:rPr>
              <a:t>頁原始文件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5720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1,104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Microsoft JhengHei"/>
              </a:rPr>
              <a:t>個指標節點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TEAM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團隊介紹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659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D21"/>
                </a:solidFill>
                <a:latin typeface="Microsoft JhengHei"/>
              </a:rPr>
              <a:t>【請填入姓名】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【背景／科系】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【負責項目】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73736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79" y="19659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56032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D21"/>
                </a:solidFill>
                <a:latin typeface="Microsoft JhengHei"/>
              </a:rPr>
              <a:t>【請填入姓名】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926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【背景／科系】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337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【負責項目】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73736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D21"/>
                </a:solidFill>
                <a:latin typeface="Microsoft JhengHei"/>
              </a:rPr>
              <a:t>【請填入姓名】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【背景／科系】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37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【負責項目】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77700"/>
                </a:solidFill>
                <a:latin typeface="Microsoft JhengHei"/>
              </a:rPr>
              <a:t>※ 這頁請填入實際成員資料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分析師的一天，有半天在翻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要回答「中信和國泰誰的獲利品質比較好」，得手動翻閱上千頁法說會簡報與財報。這不是分析，這是資料搬運。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2219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數字鎖在圖表裡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21992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法說會簡報的關鍵數字多半是圖片，Ctrl+F 搜不到，更別說跨檔比較。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92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跨機構命名不一致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19272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同一個概念，中信叫「合併稅後淨利」、國泰叫「稅後淨利 (1Q25)」、玉山叫「稅後淨利」。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416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單位與口徑陷阱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16552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同樣是稅後淨利，財報用千元、簡報用億元；法說會的 EPS 還是年初至今累計值。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0607040" cy="6400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32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Microsoft JhengHei"/>
              </a:rPr>
              <a:t>這三個陷阱不只讓人工作業慢——它們會讓「直接把 PDF 丟給 LLM」的做法給出看起來合理、實際錯誤的答案。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DATASET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資料集：三家金控、五個季度、全部公開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</a:rPr>
              <a:t>法說會簡報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019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rial"/>
              </a:rPr>
              <a:t>15 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4767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Arial"/>
              </a:rPr>
              <a:t>761 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中信／國泰／玉山 × 2025Q1–2026Q1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</a:rPr>
              <a:t>合併財務報告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906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rial"/>
              </a:rPr>
              <a:t>3 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363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Arial"/>
              </a:rPr>
              <a:t>613 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154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2026Q1 會計師核閱版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</a:rPr>
              <a:t>法說會錄音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793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A1D21"/>
                </a:solidFill>
                <a:latin typeface="Arial"/>
              </a:rPr>
              <a:t>1 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3251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玉山 2025Q3（驗證 STT 管線）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為什麼選這三家：資產規模前段，而且 business model 各有側重——中信偏銀行＋壽險、國泰偏壽險、玉山以純銀行為主。業務結構不同，跨機構比較才有意義。五個季度則讓時間序列站得住腳。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Hybrid RAG：讓非結構化資料同時可搜尋、可計算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920240" cy="1691640"/>
          </a:xfrm>
          <a:prstGeom prst="roundRect">
            <a:avLst>
              <a:gd name="adj" fmla="val 6000"/>
            </a:avLst>
          </a:prstGeom>
          <a:solidFill>
            <a:srgbClr val="87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2140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PDF／錄音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非結構化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1,374 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920240"/>
            <a:ext cx="1920240" cy="16916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12140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VLM／STT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抽取層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結構化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06040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920240"/>
            <a:ext cx="1920240" cy="1691640"/>
          </a:xfrm>
          <a:prstGeom prst="roundRect">
            <a:avLst>
              <a:gd name="adj" fmla="val 6000"/>
            </a:avLst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212140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Vector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313 筆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語意段落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5" y="2606040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1920240"/>
            <a:ext cx="1920240" cy="1691640"/>
          </a:xfrm>
          <a:prstGeom prst="roundRect">
            <a:avLst>
              <a:gd name="adj" fmla="val 6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212140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Graph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3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1,104 個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指標節點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606040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1920240"/>
            <a:ext cx="1920240" cy="1691640"/>
          </a:xfrm>
          <a:prstGeom prst="roundRect">
            <a:avLst>
              <a:gd name="adj" fmla="val 6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12140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AI Agent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CALC／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</a:rPr>
              <a:t>NARRATIVE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77639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21"/>
                </a:solidFill>
                <a:latin typeface="Microsoft JhengHei"/>
              </a:rPr>
              <a:t>關鍵設計：兩條路徑，各司其職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0F7F5"/>
          </a:solidFill>
          <a:ln w="9525">
            <a:solidFill>
              <a:srgbClr val="CF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177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7D6B"/>
                </a:solidFill>
                <a:latin typeface="Microsoft JhengHei"/>
              </a:rPr>
              <a:t>Vector RAG ── 回答「為什麼」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83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經理人怎麼解釋數字的變化。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語意檢索，容許模糊。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4348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4F0FA"/>
          </a:solidFill>
          <a:ln w="9525">
            <a:solidFill>
              <a:srgbClr val="DD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6177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4E9E"/>
                </a:solidFill>
                <a:latin typeface="Microsoft JhengHei"/>
              </a:rPr>
              <a:t>Graph RAG ── 回答「多少」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983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數字用公式算，不讓 LLM 猜。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QoQ／YoY 100% 可複現。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抽取層：非結構化與 Graph RAG 之間的那座橋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Vector RAG 本來就吃非結構化。但 Graph RAG 需要結構——所以中間必須有一層「LLM 抽取」。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投影片圖片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「手續費淨收益 17,977」</a:t>
            </a:r>
          </a:p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/>
            </a:r>
          </a:p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這個數字畫在圖表裡，</a:t>
            </a:r>
          </a:p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是像素，不是文字。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9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1E276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10312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2860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VLM 抽取結果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65176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ourier New"/>
              </a:rPr>
              <a:t>{ "指標名稱": "手續費淨收益",</a:t>
            </a:r>
          </a:p>
          <a:p>
            <a:pPr algn="l"/>
            <a:r>
              <a:rPr sz="1200" b="0" i="0">
                <a:solidFill>
                  <a:srgbClr val="1E2761"/>
                </a:solidFill>
                <a:latin typeface="Courier New"/>
              </a:rPr>
              <a:t>  "數值": "17,977",</a:t>
            </a:r>
          </a:p>
          <a:p>
            <a:pPr algn="l"/>
            <a:r>
              <a:rPr sz="1200" b="0" i="0">
                <a:solidFill>
                  <a:srgbClr val="1E2761"/>
                </a:solidFill>
                <a:latin typeface="Courier New"/>
              </a:rPr>
              <a:t>  "單位": "百萬元",</a:t>
            </a:r>
          </a:p>
          <a:p>
            <a:pPr algn="l"/>
            <a:r>
              <a:rPr sz="1200" b="0" i="0">
                <a:solidFill>
                  <a:srgbClr val="1E2761"/>
                </a:solidFill>
                <a:latin typeface="Courier New"/>
              </a:rPr>
              <a:t>  "YoY": "+11.0%"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這正是微軟 GraphRAG 的核心做法——用 LLM 從非結構化文字抽出實體與關係。我們把它特化到財務指標，因此比開放式抽取更精準。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257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icrosoft JhengHei"/>
              </a:rPr>
              <a:t>設計原則：抽取層忠於原文，正規化留給對齊層。原始資料可回溯，出錯查得到是哪一頁抄的。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EAP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EAP 平台整合：知識圖譜與文件問答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20240"/>
            <a:ext cx="384048" cy="384048"/>
          </a:xfrm>
          <a:prstGeom prst="ellipse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568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Microsoft JhengHei"/>
              </a:rPr>
              <a:t>Data Explorer 知識圖譜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4663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681 個節點、四層結構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公司 → 事業體 → 指標 → 期間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由 VLM 抽取結果匯出 CSV 建成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9164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F0F7F5"/>
          </a:solidFill>
          <a:ln w="9525">
            <a:solidFill>
              <a:srgbClr val="CF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1920240"/>
            <a:ext cx="384048" cy="38404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568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Microsoft JhengHei"/>
              </a:rPr>
              <a:t>Document Management 文件庫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4663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18 份 PDF、三家 × 五季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透過 Chat API 串接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即為平台端的 Vector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Microsoft JhengHei"/>
              </a:rPr>
              <a:t>平台的知識圖譜只吃結構化資料（CSV／JSON／DB），不吃 PDF。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這反而印證了抽取層的必要性——我們的 VLM 產物正好就是平台建圖需要的格式：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非結構化 PDF  →  VLM 抽取  →  結構化 CSV（1,104 列）  →  平台知識圖譜（681 節點）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AI Agent 路由：讓對的引擎回答對的問題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429000" cy="3429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01168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「手續費淨收益是多少？」</a:t>
            </a:r>
          </a:p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「QoQ 變化幾 %？」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661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只走 Graph RAG。公式直接算，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不呼叫 LLM——省額度，也不會算錯。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783080"/>
            <a:ext cx="3429000" cy="3429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79" y="201168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0116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6032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「為什麼手續費下滑？」</a:t>
            </a:r>
          </a:p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「經理人怎麼說？」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5661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只走 Vector RAG。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語意檢索法說會敘述。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783080"/>
            <a:ext cx="3429000" cy="3429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「手續費變化多少？為什麼？」</a:t>
            </a:r>
          </a:p>
          <a:p>
            <a:pPr algn="l"/>
            <a:r>
              <a:rPr sz="1300" b="0" i="1">
                <a:solidFill>
                  <a:srgbClr val="5A6270"/>
                </a:solidFill>
                <a:latin typeface="Microsoft JhengHei"/>
              </a:rPr>
              <a:t>跨公司比較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兩者都走。數字由公式算，解釋由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語意檢索，LLM 只負責組裝語言。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0607040" cy="6400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440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icrosoft JhengHei"/>
              </a:rPr>
              <a:t>每個回答都在介面上標出走了哪條路——使用者看得到 AI 系統怎麼運作，不是黑盒子。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系統展示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0391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分析儀表板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單一公司的關鍵指標卡片與趨勢圖，切換期間即時重算 QoQ。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8308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20391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跨機構比較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兩家並排。只比對名稱完全相同的指標——寧可少，也不要配錯。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1363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問答與報告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348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Hybrid RAG 問答，每則回答標註路由與來源頁碼，可一鍵匯出 Word。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65760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391363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資料來源總覽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已收錄多少文件、多少指標、多少語意段落，以及法說會逐字稿。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0607040" cy="594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現場實機操作 ── hybrid-rag-project.streamlit.app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ADCFC"/>
                </a:solidFill>
                <a:latin typeface="Arial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我們找到的四個坑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Microsoft JhengHei"/>
              </a:rPr>
              <a:t>每一個都會讓系統給出「看起來合理、實際是錯的」答案。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Microsoft JhengHei"/>
              </a:rPr>
              <a:t>它們不是靠讀文件發現的，是靠實測打出來的。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FINDING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發現 1：平台檢索器在混合查詢時會漏抓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77700"/>
                </a:solidFill>
                <a:latin typeface="Microsoft JhengHei"/>
              </a:rPr>
              <a:t>問「中信和國泰績效比較」→ 平台答：查不到資料。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但逐家單獨問，三家的資料全都在，而且答得完整。資料從來沒有缺——是檢索器對多公司混合查詢撈不到。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21"/>
                </a:solidFill>
                <a:latin typeface="Microsoft JhengHei"/>
              </a:rPr>
              <a:t>我們的解法：查詢拆解（Query Decomposition）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偵測到問題提及 2 家以上公司時，不送混合查詢，改成逐家分別問（這會成功），再把撈到的數據內嵌回最後一次提問讓平台比較——繞過檢索器這個瓶頸。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262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709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Microsoft JhengHei"/>
              </a:rPr>
              <a:t>修正前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02920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「很抱歉，目前無法取得中信和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國泰的績效比較資料。」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5262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9525">
            <a:solidFill>
              <a:srgbClr val="BF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709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7A4B"/>
                </a:solidFill>
                <a:latin typeface="Microsoft JhengHei"/>
              </a:rPr>
              <a:t>修正後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完整並排比較表：稅後淨利、EPS、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ROE、成長率，全部列出。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FINDING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發現 2：同一個單位，有 24 種寫法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VLM 忠實照抄各家報表原文，於是同一個「千元」在三家財報裡長成 24 種樣子。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Microsoft JhengHei"/>
              </a:rPr>
              <a:t>台／臺、千／仟、百／佰 混用，還混英文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新台幣千元 ／ 新臺幣仟元 ／ 仟元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新台幣佰萬元 ／ TWD million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NT$BN ／ 百分比 ／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9525">
            <a:solidFill>
              <a:srgbClr val="BF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7A4B"/>
                </a:solidFill>
                <a:latin typeface="Microsoft JhengHei"/>
              </a:rPr>
              <a:t>正規化後收斂成 8 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千元 ／ 百萬元 ／ 億元 ／ 十億元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元 ／ 兆元 ／ %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（外幣「兆越南盾」刻意保留不併）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21"/>
                </a:solidFill>
                <a:latin typeface="Microsoft JhengHei"/>
              </a:rPr>
              <a:t>而且單位比名稱可靠——它能救回名稱救不了的誤判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Microsoft JhengHei"/>
              </a:rPr>
              <a:t>國泰簡報：「國泰世華銀行獲利：17」　單位：百分比　→　那是 +17% 年成長，不是 17 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名稱裡沒有「率」也沒有「%」，只看名稱會判成絕對金額，然後被拿去跟中信的真實獲利金額比大小。改成單位優先分類後歸位。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FINDING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發現 3：一個看起來很嚴重、實際不存在的暴跌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法說會的獲利與 EPS 多半是「年初至今累計」，不是單季。直接算 QoQ 會得到捏造的成長率。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玉山金控 EPS（元）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1E2761"/>
                </a:solidFill>
                <a:latin typeface="Arial"/>
              </a:rPr>
              <a:t>0.55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07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Microsoft JhengHei"/>
              </a:rPr>
              <a:t>2025Q1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228600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1E2761"/>
                </a:solidFill>
                <a:latin typeface="Arial"/>
              </a:rPr>
              <a:t>1.05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907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Microsoft JhengHei"/>
              </a:rPr>
              <a:t>2025Q2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5" y="228600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5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1E2761"/>
                </a:solidFill>
                <a:latin typeface="Arial"/>
              </a:rPr>
              <a:t>1.62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2907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Microsoft JhengHei"/>
              </a:rPr>
              <a:t>2025Q3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3" y="228600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3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1E2761"/>
                </a:solidFill>
                <a:latin typeface="Arial"/>
              </a:rPr>
              <a:t>2.12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3" y="2907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Microsoft JhengHei"/>
              </a:rPr>
              <a:t>2025Q4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228600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C77700"/>
                </a:solidFill>
                <a:latin typeface="Arial"/>
              </a:rPr>
              <a:t>0.62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907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270"/>
                </a:solidFill>
                <a:latin typeface="Microsoft JhengHei"/>
              </a:rPr>
              <a:t>2026Q1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0440"/>
            <a:ext cx="5212080" cy="13258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6850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Microsoft JhengHei"/>
              </a:rPr>
              <a:t>天真的算法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0233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(0.62 − 2.12) ÷ 2.12 = −70.75%</a:t>
            </a:r>
          </a:p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「玉山 EPS 暴跌 70%」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520440"/>
            <a:ext cx="5212080" cy="132588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9525">
            <a:solidFill>
              <a:srgbClr val="BF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850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7A4B"/>
                </a:solidFill>
                <a:latin typeface="Microsoft JhengHei"/>
              </a:rPr>
              <a:t>實際上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233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2.12 是全年累計，0.62 是新年度重新起算</a:t>
            </a:r>
          </a:p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真實 YoY：0.62 vs 0.55 = +12.73%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292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D21"/>
                </a:solidFill>
                <a:latin typeface="Microsoft JhengHei"/>
              </a:rPr>
              <a:t>偵測需要兩種訊號，缺一不可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①  名稱標記——累計、9M25、1H25、FY24</a:t>
            </a:r>
          </a:p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②  數列走勢——玉山簡報就叫「EPS」，名稱完全看不出來，只有從 0.55 → 1.05 → 1.62 → 2.12 這條逐季遞增的線才認得出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FINDING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發現 4：預設的 embedding 根本不懂中文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ChromaDB 預設的 all-MiniLM 是英文模型。餵中文給它，它只能看字元重疊，不是語意。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0607040" cy="60350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0370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利息淨收益　vs　放款總額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9" y="21762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C77700"/>
                </a:solidFill>
                <a:latin typeface="Arial"/>
              </a:rPr>
              <a:t>0.984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128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完全無關，卻分數最高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06070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3522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手續費淨收益　vs　淨手續費收入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90779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5A6270"/>
                </a:solidFill>
                <a:latin typeface="Arial"/>
              </a:rPr>
              <a:t>0.980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9443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同義詞，分數反而低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10607040" cy="60350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667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每股盈餘　vs　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36393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C77700"/>
                </a:solidFill>
                <a:latin typeface="Arial"/>
              </a:rPr>
              <a:t>0.062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6758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同一個東西，分數趨近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106070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982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D21"/>
                </a:solidFill>
                <a:latin typeface="Microsoft JhengHei"/>
              </a:rPr>
              <a:t>資本適足率　vs　我想吃蒸餃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437083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C77700"/>
                </a:solidFill>
                <a:latin typeface="Arial"/>
              </a:rPr>
              <a:t>0.498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4074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270"/>
                </a:solidFill>
                <a:latin typeface="Microsoft JhengHei"/>
              </a:rPr>
              <a:t>⋯⋯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錯的排在對的前面 → 門檻調再高都救不了。這不是參數問題，是工具用錯了。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50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Microsoft JhengHei"/>
              </a:rPr>
              <a:t>我們的決定：關掉語意配對，只保留 100% 正確的精確配對。語意比較交給真的懂中文的 LLM。寧可少，也不要錯。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Vibe Coding：用自然語言驅動開發，但每一步都驗證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270"/>
                </a:solidFill>
                <a:latin typeface="Microsoft JhengHei"/>
              </a:rPr>
              <a:t>我們沒有「叫 AI 寫程式然後貼上」。19 個 commit，每一個都是同一個循環：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發現異常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3172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20116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0116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查證根因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33172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20116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20116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自然語言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描述修正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5" y="233172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7183" y="20116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0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3" y="20116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實測驗證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33172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B9C0CC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20116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0116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commit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記錄理由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21"/>
                </a:solidFill>
                <a:latin typeface="Microsoft JhengHei"/>
              </a:rPr>
              <a:t>實例：一個差點造成資料遺失的判斷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10607040" cy="14630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4903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21"/>
                </a:solidFill>
                <a:latin typeface="Microsoft JhengHei"/>
              </a:rPr>
              <a:t>重新解析 13 份簡報、加深到 20 頁時，最直覺的做法是「先清空、再匯入」。但我們先驗證了一件事：VLM 不是決定性的——同一頁跑兩次，抽到的指標不一樣。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7A4B"/>
                </a:solidFill>
                <a:latin typeface="Microsoft JhengHei"/>
              </a:rPr>
              <a:t>所以改成「疊加後用數值比對去重」：刪掉 113 筆命名殘留，保留 59 筆新解析漏掉的獨有資料。全清重匯的話，那 59 筆會永久消失。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24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257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rial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824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Python 模組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57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rial"/>
              </a:rPr>
              <a:t>1,965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824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行程式碼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257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rial"/>
              </a:rPr>
              <a:t>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824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Microsoft JhengHei"/>
              </a:rPr>
              <a:t>筆資料因驗證而保住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4380"/>
                </a:solidFill>
                <a:latin typeface="Arial"/>
              </a:rPr>
              <a:t>BENEFITS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Microsoft JhengHei"/>
              </a:rPr>
              <a:t>效益與價值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9C0CC"/>
                </a:solidFill>
                <a:latin typeface="Arial"/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76479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把不可搜尋變成可查詢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9" y="1764792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1,374 頁 PDF 裡的圖表數字，變成 1,104 個帶單位、帶期間、可用公式計算的指標節點。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6207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1635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把數小時變成數秒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2816351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「三家金控近五季的 ROE 誰比較好」——原本要翻三份簡報找五次，現在一句話。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3631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6791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讓計算可複現、可稽核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3867911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數字走 Graph RAG 用公式算，不讓 LLM 猜。每個答案標註路由與來源頁碼。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9194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Microsoft JhengHei"/>
              </a:rPr>
              <a:t>拒絕給出錯的答案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4919472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21"/>
                </a:solidFill>
                <a:latin typeface="Microsoft JhengHei"/>
              </a:rPr>
              <a:t>累計指標跨季比較？系統回傳「無法計算」，而不是一個看起來合理的假數字。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9525">
            <a:solidFill>
              <a:srgbClr val="BF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7A4B"/>
                </a:solidFill>
                <a:latin typeface="Microsoft JhengHei"/>
              </a:rPr>
              <a:t>可延伸性：換一組 PDF 就能套用到任何產業的同業比較——製造業、零售業、生技業。抽取層與圖譜結構完全不用改。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500">
                <a:solidFill>
                  <a:srgbClr val="CADCFC"/>
                </a:solidFill>
                <a:latin typeface="Microsoft JhengHei"/>
              </a:rPr>
              <a:t>有你蒸好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JhengHei"/>
              </a:rPr>
              <a:t>我們沒有做出一個不會出錯的系統。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Microsoft JhengHei"/>
              </a:rPr>
              <a:t>我們做出的是一個知道自己會怎麼出錯、</a:t>
            </a:r>
          </a:p>
          <a:p>
            <a:pPr algn="l"/>
            <a:r>
              <a:rPr sz="3000" b="1" i="0">
                <a:solidFill>
                  <a:srgbClr val="CADCFC"/>
                </a:solidFill>
                <a:latin typeface="Microsoft JhengHei"/>
              </a:rPr>
              <a:t>並且拒絕給出假答案的系統。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icrosoft JhengHei"/>
              </a:rPr>
              <a:t>財報分析，有你真好。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Arial"/>
              </a:rPr>
              <a:t>github.com/WangChiaChen/hybrid-rag-project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