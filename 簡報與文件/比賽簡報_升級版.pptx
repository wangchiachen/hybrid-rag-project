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74" r:id="rId12"/>
    <p:sldId id="265" r:id="rId13"/>
    <p:sldId id="266" r:id="rId14"/>
    <p:sldId id="267" r:id="rId15"/>
    <p:sldId id="276" r:id="rId16"/>
    <p:sldId id="268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⏱15s｜評審好，我們是「有你蒸好」。一句話：讓每個財報數字，可信、可比、看得懂。（停一下）接下來八分鐘帶大家看我們怎麼做到。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⏱10s｜我們五個人，從系統、前端到資料處理都自己來。直接進正題。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⏱35s｜每季都在做同一件苦差事：財報到處散（PDF／錄音／觀測站格式全不同）、名詞各講各的（手續費淨收益＝淨手續費收入卻兜不起來）、沒辦法比（百萬 vs 十億一擺就看錯）。丟給 ChatGPT？它會唬爛、講不出來源。投資決策不能用猜的。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⏱25s｜為什麼是我們？Excel＝純手工；一般 AI＝很會算錯還編數字。只有我們兩件一起做到：算得準，而且每個數字都點得出來源。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⏱25s｜四家金控全公開資料，最能凸顯「沒法並排比」的痛點。1,259 個結構化指標、846 段語意段落。簡報用 AI 看圖抽數字，法說會錄音自己轉逐字稿——這批逐字稿獨家有、平台沒有。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⏱20s｜資料分兩軌：Graph 管精準（指標關聯圖）、Vector 管語意（法說會逐字稿）。一個查得準，一個聽得懂人話。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⏱25s｜每個指標做成唯一節點（公司＋期間＋指標）。好處：同名指標跨季不共用點，跨期間答錯的老問題直接消失。紅＝子公司、綠＝指標，層級一眼看得出。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⏱30s｜流程：你問一句 → AI 判斷精算還是找說法 → EAP Hybrid RAG → 有驗證有出處的答案。主引擎 EAP，Gemini 幫忙看圖／轉語音／備援。重點：數字全是本地公式算出來的，不是 AI 生的——可信、驗得了、查得到。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⏱15s｜一句問題經改寫、對齊名詞、分流、生成四步，變成可信答案。（快速帶過）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⏱10s｜防 AI 亂講第一層：平台端把規矩寫死——不准換算單位、不准硬湊、查不到就說查不到。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⏱10s｜但光靠平台不夠，真正把關的是本地的交叉驗證——接下來就看到。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⏱25s｜亮點①：數字是算出來的、不是掰的。每個答案掛「✓ 公式驗證」；累計不跟單季亂比；漲跌自動算、紅漲綠跌。而且很老實——驗過幾筆、哪幾筆沒有都講清楚。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⏱25s｜亮點②：資料乾不乾淨才是 AI 可不可信的根本。原本光同名 ROE 就兩百多個點、單位二十幾種寫法，「拾億」被看成「億」少一位數。所以重建、逐一唯一節點、量級稽核——先對齊才敢說可信。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⏱12s｜怎麼證明？計算驗證：問「中信 ROE？」→ 18.32%，附公式。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⏱13s｜檢索驗證：問法說會 → 引用逐字稿原句、附出處。以 EAP 為主、本地六道防護守——平台算差十倍或張冠李戴，紅框當場標出。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⏱40s（放慢，重頭戲）｜（切畫面）儀表板：重點數字放大、坐後面也看得到；照財務意義分組；單位自動補齊、涵蓋率九成九、推的標星號；點卡片看六季走勢。冷財報變成一眼看得懂。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⏱40s｜跨機構比較（我最喜歡）：不同公司／單位／叫法，系統自動換億元、自動對齊。中信 ROE 18.32、玉山 14.43，兩家擺一起高下立判，還告訴你拿哪兩欄對齊，不是黑箱。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⏱40s｜問答：一個字一個字串流、先報進度不用乾等；公司期間鎖定免重打；平台查不到本地自動補上；一鍵匯出 Word。（可現場問「國泰各子公司稅後淨利」讓它當場列出）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⏱20s｜不是假象——已上線雲端、開網址就能用。瀏覽器／後端／EAP／Gemini／向量庫全串起來，一鍵出報告。真的做出來了。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⏱25s｜誰買單？券商投顧、金控 IR、投信基金。模式：B2B 訂閱＋API 授權。講白：本來人工三十分鐘，我們三十秒給你。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⏱15s｜收尾：用 EAP Hybrid RAG，讓財報人人看得懂、可信、可比。謝謝評審，準備好回答問題了。｜緊張就記一句：可信、可比、看得懂。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05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828800"/>
            <a:ext cx="146304" cy="237744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371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2026 精誠資訊 AI 創新競賽 · 決賽簡報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1828800"/>
            <a:ext cx="10515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EAP Hybrid RAG 財報分析系統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840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為投資決策導航，讓每個財報數字都可信、可比、看得懂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806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B0CC"/>
                </a:solidFill>
                <a:latin typeface="Microsoft JhengHei"/>
                <a:ea typeface="Microsoft JhengHei"/>
                <a:cs typeface="Microsoft JhengHei"/>
              </a:rPr>
              <a:t>團隊名稱：有你蒸好　｜　凃思綺　何子嫻　楊于葳　王家蓁　林琮原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TEAM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團隊介紹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團隊成員、背景與分工（請填入實際內容）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43100" y="237744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4144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凃思綺、何子嫻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97380" y="3977639"/>
            <a:ext cx="914400" cy="457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19" y="4206240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分工：系統架構／後端 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201168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56148" y="237744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53128" y="244144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429000"/>
            <a:ext cx="2880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 dirty="0" err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楊于葳</a:t>
            </a:r>
            <a:r>
              <a:rPr sz="2000" b="1" dirty="0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、</a:t>
            </a:r>
            <a:r>
              <a:rPr lang="zh-TW" altLang="en-US" sz="2000" b="1" dirty="0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林琮原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0428" y="3977639"/>
            <a:ext cx="914400" cy="457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206240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分工：前端網頁／資料視覺化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5" y="201168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569196" y="2377440"/>
            <a:ext cx="822960" cy="82296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6175" y="2441448"/>
            <a:ext cx="3429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5" y="3448847"/>
            <a:ext cx="2880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zh-TW" altLang="en-US" sz="2000" b="1" dirty="0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王家蓁</a:t>
            </a:r>
            <a:endParaRPr sz="2000" b="1" dirty="0">
              <a:solidFill>
                <a:srgbClr val="1E3A5F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523476" y="3977639"/>
            <a:ext cx="914400" cy="457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86215" y="4206240"/>
            <a:ext cx="27889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背景：＿＿＿＿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分工：資料處理／簡報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問題定義 — 外部資訊落差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✓ 財報散、術語亂、不能比、易幻覺——投研每季的四大痛點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11680"/>
            <a:ext cx="6949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2203704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0312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財報散落難整合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PDF 簡報、法說會錄音、公開資訊觀測站，格式全不同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80944"/>
            <a:ext cx="6949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68680" y="3172968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72384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術語各家不一致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「手續費淨收益」vs「淨手續費收入」，同義卻配不起來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50208"/>
            <a:ext cx="6949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8680" y="4142232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041648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跨機構不能直接比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單位不同（百萬／十億／億），數字並排會誤導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919472"/>
            <a:ext cx="69494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" y="5111496"/>
            <a:ext cx="457200" cy="45720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010912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AI 易幻覺、無出處　</a:t>
            </a: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一般 LLM 直接生成數字，投資決策不能靠猜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2011680"/>
            <a:ext cx="3703320" cy="3803904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79" y="22860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目標客戶（B2B）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880360"/>
            <a:ext cx="32004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券商投顧：加值研究工具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金控 IR／財務：跨機構對標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投信／基金：快速盡職調查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2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財經媒體／教育：可信素材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COMPETITIVE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競品分析 — 為什麼只有我們行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✓ 只有我們同時做到「精準計算 ＋ 可追溯出處」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383280" y="2057400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ECEFF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傳統試算表／SQL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057400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ECEFF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210312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一般 LLM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ChatGPT／Gemini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2057400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2103120"/>
            <a:ext cx="2953512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有你蒸好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Hybrid RAG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715768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715768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精準計算財務數值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715768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2715768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9A441"/>
                </a:solidFill>
                <a:latin typeface="Microsoft JhengHei"/>
                <a:ea typeface="Microsoft JhengHei"/>
                <a:cs typeface="Microsoft JhengHei"/>
              </a:rPr>
              <a:t>△ 純人工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715768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2715768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易算錯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2715768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FDF3F0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2715768"/>
            <a:ext cx="29535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公式計算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74135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3374135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跨機構術語對齊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374135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383280" y="3374135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做不到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3374135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89320" y="3374135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配不起來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3374135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FDF3F0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95360" y="3374135"/>
            <a:ext cx="29535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標準字典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032504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4032504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中文語意檢索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4032504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383280" y="4032504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4032504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89320" y="4032504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9A441"/>
                </a:solidFill>
                <a:latin typeface="Microsoft JhengHei"/>
                <a:ea typeface="Microsoft JhengHei"/>
                <a:cs typeface="Microsoft JhengHei"/>
              </a:rPr>
              <a:t>△ 英文模型不準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0" y="4032504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FDF3F0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95360" y="4032504"/>
            <a:ext cx="29535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中文混合檢索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4690872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4690872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防幻覺・可追溯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83280" y="4690872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383280" y="469087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9A441"/>
                </a:solidFill>
                <a:latin typeface="Microsoft JhengHei"/>
                <a:ea typeface="Microsoft JhengHei"/>
                <a:cs typeface="Microsoft JhengHei"/>
              </a:rPr>
              <a:t>△ 無 AI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89320" y="4690872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89320" y="4690872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無來源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95360" y="4690872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FDF3F0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595360" y="4690872"/>
            <a:ext cx="29535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附公式／出處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349240"/>
            <a:ext cx="2743200" cy="658368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7240" y="5349240"/>
            <a:ext cx="246888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法說會非結構化解析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383280" y="5349240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83280" y="534924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✕ 無法處理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5349240"/>
            <a:ext cx="260604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89320" y="5349240"/>
            <a:ext cx="26060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D9A441"/>
                </a:solidFill>
                <a:latin typeface="Microsoft JhengHei"/>
                <a:ea typeface="Microsoft JhengHei"/>
                <a:cs typeface="Microsoft JhengHei"/>
              </a:rPr>
              <a:t>△ 內容易失真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595360" y="5349240"/>
            <a:ext cx="2953512" cy="658368"/>
          </a:xfrm>
          <a:prstGeom prst="roundRect">
            <a:avLst>
              <a:gd name="adj" fmla="val 8000"/>
            </a:avLst>
          </a:prstGeom>
          <a:solidFill>
            <a:srgbClr val="FDF3F0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95360" y="5349240"/>
            <a:ext cx="2953512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STT＋切段索引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1080000">
            <a:off x="10972800" y="-548640"/>
            <a:ext cx="22860" cy="292608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1800000">
            <a:off x="10991088" y="-548640"/>
            <a:ext cx="22860" cy="306324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2520000">
            <a:off x="11009376" y="-548640"/>
            <a:ext cx="22860" cy="320040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3240000">
            <a:off x="11027664" y="-548640"/>
            <a:ext cx="22860" cy="333756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3960000">
            <a:off x="11045952" y="-548640"/>
            <a:ext cx="22860" cy="3474720"/>
          </a:xfrm>
          <a:prstGeom prst="rect">
            <a:avLst/>
          </a:prstGeom>
          <a:solidFill>
            <a:srgbClr val="F3D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資料集介紹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✓ 四家金控、1,259 指標、846 段落，全公開可查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19" y="2286000"/>
            <a:ext cx="182880" cy="18288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61872" y="2194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財報簡報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2724912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VLM 逐頁解析成指標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96596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800600" y="2286000"/>
            <a:ext cx="182880" cy="18288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2194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法說會錄音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724912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STT 轉逐字稿 → 切段索引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965960"/>
            <a:ext cx="3520440" cy="14630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41080" y="2286000"/>
            <a:ext cx="182880" cy="18288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42832" y="21945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公開資訊觀測站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724912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→ 財報數字（資產／負債／EPS）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749039"/>
            <a:ext cx="2514600" cy="73152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9319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817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金控機構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10711" y="3749039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10711" y="3749039"/>
            <a:ext cx="2514600" cy="73152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10711" y="39319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0711" y="46817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期間季度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1344" y="3749039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81344" y="3749039"/>
            <a:ext cx="2514600" cy="73152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81344" y="39319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1,259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1344" y="46817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結構化指標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1976" y="3749039"/>
            <a:ext cx="25146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951976" y="3749039"/>
            <a:ext cx="2514600" cy="73152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51976" y="3931920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846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1976" y="4681728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語意段落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中信 · 國泰 · 玉山 · 第一金控——皆公開資料，最能凸顯「難以並排比較」的痛點；第一金控與三家 2025 年報均為上線後上傳新增，可持續擴充。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DATA STRUCTURE · 語意知識網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資料結構設計 — Semantic Knowledge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✓ Graph 管精準、Vector 管語意，雙軌並行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核心資料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Hybrid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69079"/>
            <a:ext cx="1737360" cy="1371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737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使用情境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Use Case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103120"/>
            <a:ext cx="4160520" cy="13716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0" y="2286000"/>
            <a:ext cx="416052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Graph Data（GraphRAG）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指標關聯圖：公司→期間→指標→數值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103120"/>
            <a:ext cx="4343400" cy="1371600"/>
          </a:xfrm>
          <a:prstGeom prst="roundRect">
            <a:avLst>
              <a:gd name="adj" fmla="val 8000"/>
            </a:avLst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2286000"/>
            <a:ext cx="4343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Vector Data（VectorRAG）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法說會逐字稿：切段後語意索引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6576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43200" y="36576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個案指標表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6576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60520" y="36576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期間節點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77840" y="3657600"/>
            <a:ext cx="128016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0" y="3657600"/>
            <a:ext cx="12801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數值屬性（單位／累計）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365760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23760" y="3657600"/>
            <a:ext cx="1325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發債計畫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365760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0" y="3657600"/>
            <a:ext cx="1325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獲利說明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3657600"/>
            <a:ext cx="1325880" cy="64008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49840" y="3657600"/>
            <a:ext cx="13258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經理人問答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0" y="4709160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分析儀表板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83480" y="4709160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跨機構比較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2376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23760" y="4709160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問答與報告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4709160"/>
            <a:ext cx="2057400" cy="68580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64040" y="4709160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自動 Word 報告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5623560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透過 公司ID／期間／指標名 跨表串接，Graph 提供可驗證數值、Vector 提供有出處的說法。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E8654E"/>
                </a:solidFill>
                <a:latin typeface="Noto Sans TC"/>
              </a:rPr>
              <a:t>MODEL DESIGN · 語意知識網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Noto Sans TC"/>
              </a:rPr>
              <a:t>模型設計 — 每指標唯一節點 ＋ 關聯圖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767C87"/>
                </a:solidFill>
                <a:latin typeface="Noto Sans TC"/>
              </a:rPr>
              <a:t>✓ 1,259 個唯一節點＋維度關聯，跨期不再答錯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767C87"/>
                </a:solidFill>
                <a:latin typeface="Noto Sans TC"/>
              </a:rPr>
              <a:t>None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6766560" cy="3566160"/>
          </a:xfrm>
          <a:prstGeom prst="rect">
            <a:avLst/>
          </a:prstGeom>
          <a:solidFill>
            <a:srgbClr val="FAFBFC"/>
          </a:solidFill>
          <a:ln w="9525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347472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dirty="0">
                <a:solidFill>
                  <a:srgbClr val="767C87"/>
                </a:solidFill>
                <a:latin typeface="Noto Sans TC"/>
              </a:rPr>
              <a:t>（貼 </a:t>
            </a:r>
            <a:r>
              <a:rPr sz="1300" b="0" dirty="0" err="1">
                <a:solidFill>
                  <a:srgbClr val="767C87"/>
                </a:solidFill>
                <a:latin typeface="Noto Sans TC"/>
              </a:rPr>
              <a:t>EAP『探索關連』截圖：金控中心放射出子公司</a:t>
            </a:r>
            <a:r>
              <a:rPr sz="1300" b="0" dirty="0">
                <a:solidFill>
                  <a:srgbClr val="767C87"/>
                </a:solidFill>
                <a:latin typeface="Noto Sans TC"/>
              </a:rPr>
              <a:t>(紅)</a:t>
            </a:r>
            <a:r>
              <a:rPr sz="1300" b="0" dirty="0" err="1">
                <a:solidFill>
                  <a:srgbClr val="767C87"/>
                </a:solidFill>
                <a:latin typeface="Noto Sans TC"/>
              </a:rPr>
              <a:t>與關鍵指標</a:t>
            </a:r>
            <a:r>
              <a:rPr sz="1300" b="0" dirty="0">
                <a:solidFill>
                  <a:srgbClr val="767C87"/>
                </a:solidFill>
                <a:latin typeface="Noto Sans TC"/>
              </a:rPr>
              <a:t>(綠)）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635240" y="2011680"/>
            <a:ext cx="3931920" cy="16916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35240" y="2011680"/>
            <a:ext cx="109728" cy="169164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2267712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E8654E"/>
                </a:solidFill>
                <a:latin typeface="Noto Sans TC"/>
              </a:rPr>
              <a:t>為什麼唯一節點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788920"/>
            <a:ext cx="33832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公司｜期間｜指標 三者組唯一鍵，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數值掛屬性上。同名指標跨季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不共用節點——跨期間誤答消失。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3886200"/>
            <a:ext cx="3931920" cy="169164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35240" y="3886200"/>
            <a:ext cx="109728" cy="169164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79" y="4142232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2E7D46"/>
                </a:solidFill>
                <a:latin typeface="Noto Sans TC"/>
              </a:rPr>
              <a:t>關聯疊加（不破壞正確性）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663440"/>
            <a:ext cx="3383279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另加金控／子公司維度節點與邊，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指標節點仍唯一。紅＝子公司、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綠＝指標——層級一眼可見。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Noto Sans TC"/>
              </a:rPr>
              <a:t>顏色分層正是防呆的視覺化：不同層級適用不同法規，系統據此擋下跨層級比較。</a:t>
            </a: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F18792AE-F83D-4BF4-A64E-3F4ADDABF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22800"/>
            <a:ext cx="6774767" cy="36281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ARCHITECTURE · 技術應用深度 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系統技術架構 — EAP Hybrid RAG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✓ EAP 為主引擎，Gemini 輔助、本地把關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2316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905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660904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① 使用者問題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37560"/>
            <a:ext cx="208483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自然語言提問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自動辨識公司／期間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72384" y="3314700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38144" y="242316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2660904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② AI Agent 路由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337560"/>
            <a:ext cx="208483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判斷該算數字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還是找說法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43600" y="3314700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60" y="242316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E8EDF4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2660904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③ EAP Hybrid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8816" y="3337560"/>
            <a:ext cx="208483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VectorRAG 語意檢索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GraphRAG 精準計算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814816" y="3314700"/>
            <a:ext cx="347472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80576" y="2423160"/>
            <a:ext cx="2487168" cy="214884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905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81744" y="2660904"/>
            <a:ext cx="208483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④ 整合一致答案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3337560"/>
            <a:ext cx="208483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附數字驗證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0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·  </a:t>
            </a:r>
            <a:r>
              <a:rPr sz="12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＋趨勢圖／報告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主引擎：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EAP 平台 Hybrid RAG（VectorRAG＋GraphRAG）</a:t>
            </a:r>
            <a:r>
              <a:rPr sz="15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　｜　備援：</a:t>
            </a: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Gemini（VLM／STT）＋本地 Vector RAG。EAP 查無資料時自動降級補上，來源標示清楚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669280"/>
            <a:ext cx="10908792" cy="658368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76986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數值一律由本地指標庫以公式計算，不是 LLM 生成——可信、可驗證、可稽核。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RAG PIPELINE · 四階段自動化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Hybrid RAG 處理管線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✓ 一句問題，四道工序變成可信答案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860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463039" y="2606040"/>
            <a:ext cx="1005840" cy="100584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947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改寫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93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Rewrite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補齊上下文與公司／期間背景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310127" y="3657600"/>
            <a:ext cx="219456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47872" y="22860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370832" y="2606040"/>
            <a:ext cx="1005840" cy="100584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47872" y="26517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37947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對齊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7872" y="42793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Terminology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6472" y="46634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術語標準化（淨手續費收入＝手續費淨收益）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217919" y="3657600"/>
            <a:ext cx="219456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55664" y="22860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278624" y="2606040"/>
            <a:ext cx="1005840" cy="1005840"/>
          </a:xfrm>
          <a:prstGeom prst="ellipse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55664" y="26517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37947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路由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2793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4264" y="46634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意圖分流：撈 Graph 數據 或 Vector 說法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125711" y="3657600"/>
            <a:ext cx="219456" cy="36576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363455" y="2286000"/>
            <a:ext cx="2651760" cy="30175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186415" y="2606040"/>
            <a:ext cx="1005840" cy="100584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63455" y="2651760"/>
            <a:ext cx="26517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3455" y="3794760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63455" y="4279392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Generation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92055" y="466344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融合雙軌證據，附公式與出處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對應到系統：Agent 路由 ＋ 標準比率字典 ＋ 中文關鍵字混合檢索 ＋ 公式驗證。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PROMPT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Prompt 設計 — 防幻覺、可稽核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✓ 只依證據回答、禁止編造（平台端＋本地端雙層）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109728" cy="1645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19" y="231343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角色設定 Persona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19" y="2834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財務分析助理：綜合解析結構化圖譜與非結構化法說會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5740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057400"/>
            <a:ext cx="109728" cy="164592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231343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動態證據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834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注入 Hybrid RAG 撈到的『指標數據』與『法說會文本』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931920"/>
            <a:ext cx="109728" cy="1645920"/>
          </a:xfrm>
          <a:prstGeom prst="rect">
            <a:avLst/>
          </a:prstGeom>
          <a:solidFill>
            <a:srgbClr val="6B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19" y="418795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B4E9E"/>
                </a:solidFill>
                <a:latin typeface="Microsoft JhengHei"/>
                <a:ea typeface="Microsoft JhengHei"/>
                <a:cs typeface="Microsoft JhengHei"/>
              </a:rPr>
              <a:t>嚴格約束 Constraint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19" y="4709159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只依證據回答、禁止編造；累計指標標記、須附來源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5349240" cy="164592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17920" y="3931920"/>
            <a:ext cx="109728" cy="164592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418795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標準化提問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59" y="4709159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帶入經管線清洗後的問題（已改寫、術語對齊）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最高守則：100% 依檢索證據回答，嚴禁編造。實測發現平台端提示詞在生成階段約束力有限，因此改由本地交叉驗證把關。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E8654E"/>
                </a:solidFill>
                <a:latin typeface="Noto Sans TC"/>
              </a:rPr>
              <a:t>CONTEXT ENGINEERING · 平台端設定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Noto Sans TC"/>
              </a:rPr>
              <a:t>情境工程 Context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767C87"/>
                </a:solidFill>
                <a:latin typeface="Noto Sans TC"/>
              </a:rPr>
              <a:t>✓ 防呆規則直接寫進平台生成階段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767C87"/>
                </a:solidFill>
                <a:latin typeface="Noto Sans TC"/>
              </a:rPr>
              <a:t>None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00" cy="2697480"/>
          </a:xfrm>
          <a:prstGeom prst="rect">
            <a:avLst/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4241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## Semantic Adjustment（術語對映）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淨手續費收入 → 手續費淨收益　　NIM → 淨利息收益率　　逾放比 → 逾期放款比率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※ 實測：問「淨手續費收入」查無，對映後才查得到 17,977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2B3D55"/>
              </a:solidFill>
              <a:latin typeface="Noto Sans TC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## Setting for when unable to answer（查無資料時）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明確回覆「未找到／未單獨揭露」並指出缺哪一塊；嚴禁臆測、不得用「可能」「通常」填補</a:t>
            </a:r>
          </a:p>
          <a:p>
            <a:pPr algn="l">
              <a:spcAft>
                <a:spcPts val="200"/>
              </a:spcAft>
            </a:pPr>
            <a:endParaRPr sz="1200" b="0">
              <a:solidFill>
                <a:srgbClr val="2B3D55"/>
              </a:solidFill>
              <a:latin typeface="Noto Sans TC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## Generate Response（生成回答）── 只放三條、放最前面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1. 禁止換算單位、禁止推算數字（實測平台三次換算全錯）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2. 只有「累計別」相同的數字能互相比較（3M26 只能比 3M25）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B3D55"/>
                </a:solidFill>
                <a:latin typeface="Noto Sans TC"/>
              </a:rPr>
              <a:t>  3. 找不到就說找不到，不得用相近科目代答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34343"/>
                </a:solidFill>
                <a:latin typeface="Noto Sans TC"/>
              </a:rPr>
              <a:t>三個實測結論：① 寫「禁止句」不寫「流程描述」　② 規則指名資料欄位（累計別／單位／層級）　③ 生成階段規則要極少——六條時 A／C／E 全部失敗，模型只讀開頭幾句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Noto Sans TC"/>
              </a:rPr>
              <a:t>改完必測：scripts/verify_eap_prompts.py（七題自動驗證，每題開新聊天室避免記憶污染）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技術亮點 ① · 本地指標庫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✓ 數字用公式算、附驗證，不是 LLM 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4937760" cy="365760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痛點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44348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LLM 直接產生的財務數字可能幻覺、算錯，投資決策不能靠猜。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103120"/>
            <a:ext cx="569671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774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92608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公式計算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數值由本地指標庫以公式算出，非 LLM 生成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公式驗證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答案附「✓ 公式驗證」讓人放心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累計防呆　跨季不亂比；平台拿全年比首季會被攔下標示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變化率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QoQ／YoY 自動算，台灣慣例上紅下綠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誠實揭露　驗過幾筆、哪幾筆本地沒有，畫面上分得清楚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技術亮點 ② · 資料治理與跨機構對齊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✓ Garbage in, garbage out——資料治理是 RAG 可信的根本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4937760" cy="365760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774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痛點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44348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原始圖譜有 211 個同名 ROE 節點、數值掛在關係上，檢索常抓錯期間；單位寫法實測有 24 種，「拾億元」被誤判成「億元」，讓 92 筆存放款整批少一個量級。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103120"/>
            <a:ext cx="5696712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72200" y="23774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92608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知識圖譜重建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每指標唯一節點（公司｜期間｜指標）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數值掛節點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不掛關係，結構上杜絕跨期誤配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量級稽核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回填 126 筆漏標、校正 150 筆換算錯誤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標準比率字典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ROE／ROA／NIM／EPS 依定義對齊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QA 驗證 · 技術深度 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QA 測試：檢索＋計算驗證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✓ 冷數據變溫決策：算得準、有出處、雙引擎交叉核對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5394960" cy="3657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317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① 計算驗證（本地指標庫）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34640"/>
            <a:ext cx="4846320" cy="59436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Q：中信金控的 ROE？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A：股東權益報酬率 =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18.32%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06240"/>
            <a:ext cx="4846320" cy="1280160"/>
          </a:xfrm>
          <a:prstGeom prst="roundRect">
            <a:avLst>
              <a:gd name="adj" fmla="val 8000"/>
            </a:avLst>
          </a:prstGeom>
          <a:solidFill>
            <a:srgbClr val="EAF6EF"/>
          </a:solidFill>
          <a:ln w="12700">
            <a:solidFill>
              <a:srgbClr val="C6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38912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7D46"/>
                </a:solidFill>
                <a:latin typeface="Microsoft JhengHei"/>
                <a:ea typeface="Microsoft JhengHei"/>
                <a:cs typeface="Microsoft JhengHei"/>
              </a:rPr>
              <a:t>✓ 公式驗證：稅後淨利 ÷ 股東權益，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非 LLM 生成，可信、可稽核。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5376672" cy="36576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12700">
            <a:solidFill>
              <a:srgbClr val="D8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3317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② 檢索驗證＋交叉核對（EAP）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2834640"/>
            <a:ext cx="4828032" cy="594360"/>
          </a:xfrm>
          <a:prstGeom prst="roundRect">
            <a:avLst>
              <a:gd name="adj" fmla="val 8000"/>
            </a:avLst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88036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Q：中信 2025Q2 對美出口曝險？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6616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A：對美出口曝險佔整體業務低於 1.5%，公司採審慎態度。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709160"/>
            <a:ext cx="482803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4828032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📄 來源：中信 2025Q2 法說會錄音 #3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附出處可回溯；六道防護攔下換算錯、跨期亂比、引用別期。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>
            <a:extLst>
              <a:ext uri="{FF2B5EF4-FFF2-40B4-BE49-F238E27FC236}">
                <a16:creationId xmlns:a16="http://schemas.microsoft.com/office/drawing/2014/main" id="{1095D430-6670-42D0-8EB9-A15315CAB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534" y="4157221"/>
            <a:ext cx="6828320" cy="25474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E8654E"/>
                </a:solidFill>
                <a:latin typeface="Noto Sans TC"/>
              </a:rPr>
              <a:t>PLATFORM QA · EAP 平台實機問答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E3A5F"/>
                </a:solidFill>
                <a:latin typeface="Noto Sans TC"/>
              </a:rPr>
              <a:t>平台 QA 畫面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50" b="0">
                <a:solidFill>
                  <a:srgbClr val="767C87"/>
                </a:solidFill>
                <a:latin typeface="Noto Sans TC"/>
              </a:rPr>
              <a:t>✓ 以 EAP 為主引擎，本地六道防護把關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767C87"/>
                </a:solidFill>
                <a:latin typeface="Noto Sans TC"/>
              </a:rPr>
              <a:t>None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9700" y="3100928"/>
            <a:ext cx="2499046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E3A5F"/>
                </a:solidFill>
                <a:latin typeface="Noto Sans TC"/>
              </a:rPr>
              <a:t>「</a:t>
            </a:r>
            <a:r>
              <a:rPr sz="1300" b="1" dirty="0" err="1">
                <a:solidFill>
                  <a:srgbClr val="1E3A5F"/>
                </a:solidFill>
                <a:latin typeface="Noto Sans TC"/>
              </a:rPr>
              <a:t>中信金控</a:t>
            </a:r>
            <a:r>
              <a:rPr sz="1300" b="1" dirty="0">
                <a:solidFill>
                  <a:srgbClr val="1E3A5F"/>
                </a:solidFill>
                <a:latin typeface="Noto Sans TC"/>
              </a:rPr>
              <a:t> 2026Q1 ROE？」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64102"/>
            <a:ext cx="3328605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E3A5F"/>
                </a:solidFill>
                <a:latin typeface="Noto Sans TC"/>
              </a:rPr>
              <a:t>「</a:t>
            </a:r>
            <a:r>
              <a:rPr sz="1300" b="1" dirty="0" err="1">
                <a:solidFill>
                  <a:srgbClr val="1E3A5F"/>
                </a:solidFill>
                <a:latin typeface="Noto Sans TC"/>
              </a:rPr>
              <a:t>中信</a:t>
            </a:r>
            <a:r>
              <a:rPr sz="1300" b="1" dirty="0">
                <a:solidFill>
                  <a:srgbClr val="1E3A5F"/>
                </a:solidFill>
                <a:latin typeface="Noto Sans TC"/>
              </a:rPr>
              <a:t> vs </a:t>
            </a:r>
            <a:r>
              <a:rPr sz="1300" b="1" dirty="0" err="1">
                <a:solidFill>
                  <a:srgbClr val="1E3A5F"/>
                </a:solidFill>
                <a:latin typeface="Noto Sans TC"/>
              </a:rPr>
              <a:t>玉山</a:t>
            </a:r>
            <a:r>
              <a:rPr sz="1300" b="1" dirty="0">
                <a:solidFill>
                  <a:srgbClr val="1E3A5F"/>
                </a:solidFill>
                <a:latin typeface="Noto Sans TC"/>
              </a:rPr>
              <a:t> ROE </a:t>
            </a:r>
            <a:r>
              <a:rPr sz="1300" b="1" dirty="0" err="1">
                <a:solidFill>
                  <a:srgbClr val="1E3A5F"/>
                </a:solidFill>
                <a:latin typeface="Noto Sans TC"/>
              </a:rPr>
              <a:t>比較</a:t>
            </a:r>
            <a:r>
              <a:rPr sz="1300" b="1" dirty="0">
                <a:solidFill>
                  <a:srgbClr val="1E3A5F"/>
                </a:solidFill>
                <a:latin typeface="Noto Sans TC"/>
              </a:rPr>
              <a:t>」→ </a:t>
            </a:r>
            <a:r>
              <a:rPr sz="1300" b="1" dirty="0" err="1">
                <a:solidFill>
                  <a:srgbClr val="1E3A5F"/>
                </a:solidFill>
                <a:latin typeface="Noto Sans TC"/>
              </a:rPr>
              <a:t>交叉驗證一致</a:t>
            </a:r>
            <a:endParaRPr sz="1300" b="1" dirty="0">
              <a:solidFill>
                <a:srgbClr val="1E3A5F"/>
              </a:solidFill>
              <a:latin typeface="Noto Sans T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17561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 err="1">
                <a:solidFill>
                  <a:srgbClr val="1E3A5F"/>
                </a:solidFill>
                <a:latin typeface="Noto Sans TC"/>
              </a:rPr>
              <a:t>比率題單位安全、平台答得準且附出處；本地交叉驗證即時比對，一致就通過、對不上就紅框標出</a:t>
            </a:r>
            <a:r>
              <a:rPr sz="1300" b="1" dirty="0">
                <a:solidFill>
                  <a:srgbClr val="1E3A5F"/>
                </a:solidFill>
                <a:latin typeface="Noto Sans TC"/>
              </a:rPr>
              <a:t>——EAP </a:t>
            </a:r>
            <a:r>
              <a:rPr sz="1300" b="1" dirty="0" err="1">
                <a:solidFill>
                  <a:srgbClr val="1E3A5F"/>
                </a:solidFill>
                <a:latin typeface="Noto Sans TC"/>
              </a:rPr>
              <a:t>為主、本地把關</a:t>
            </a:r>
            <a:r>
              <a:rPr sz="1300" b="1" dirty="0">
                <a:solidFill>
                  <a:srgbClr val="1E3A5F"/>
                </a:solidFill>
                <a:latin typeface="Noto Sans TC"/>
              </a:rPr>
              <a:t>。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65DC333-C2A9-4C33-85C9-7A8029C9A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534" y="2153793"/>
            <a:ext cx="6828320" cy="18695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DEMO ① · 介面呈現 15% / Demo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分析儀表板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核心指標卡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門面數字加大，投影機也看得清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依財務意義分組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獲利／資本／資產品質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單位自動補全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五層推定，涵蓋率 99.3%，推定值標＊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載入不留白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冷啟動顯示骨架與進度，不是一片空白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趨勢與術語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六期 sparkline、白話術語解釋；滑鼠、觸控、鍵盤三種操作都能開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3A54EEF-ABE9-4E62-8D2E-05A59D31C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75" y="1307592"/>
            <a:ext cx="5763919" cy="40562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DEMO ② · Demo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跨機構比較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億元對齊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絕對金額換算億元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標準比率對照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名稱不同也配得起來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雙序列圖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長條＋成長率折線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誠實揭露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點對齊看對應欄位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缺漏單位推定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漏標自動補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5915632"/>
            <a:ext cx="7315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C338612-ACD5-4D00-A911-5516600C0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376" y="500822"/>
            <a:ext cx="6178863" cy="392939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D270D980-91EE-4038-B805-5F87E27A5A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7499"/>
          <a:stretch/>
        </p:blipFill>
        <p:spPr>
          <a:xfrm>
            <a:off x="4737376" y="4389678"/>
            <a:ext cx="6178864" cy="20063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DEMO ③ · Demo 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問答與報告（EAP 為主）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5029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逐字串流回答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SSE 串流，先報進度再逐字輸出，不用乾等十幾秒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範圍鎖定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選定公司／期間，後續提問免重打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六道防護　數字不符／引用別期／比較無效／未驗證，四色提示分嚴重度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Vector RAG 補強　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EAP 查無時，標準指標直接用本地指標庫數字回答，其餘改用逐字稿檢索補強</a:t>
            </a:r>
          </a:p>
          <a:p>
            <a:pPr>
              <a:lnSpc>
                <a:spcPct val="115000"/>
              </a:lnSpc>
              <a:spcAft>
                <a:spcPts val="13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資料管線　Gemini VLM／STT 供料，本地驗證把關，一鍵匯出 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F58EF29-82B9-4A48-B776-0DCE0FA5F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719369"/>
            <a:ext cx="5719234" cy="358291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DEPLOYMENT &amp; INNOVATION · 整合創新 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部署架構與整合創新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已上線、可介接、以 Vibe Coding 串接多 API 的完整系統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48840"/>
            <a:ext cx="2286000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50592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使用者瀏覽器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063240" y="2304288"/>
            <a:ext cx="502920" cy="45720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703320" y="2148840"/>
            <a:ext cx="2880360" cy="118872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25400">
            <a:solidFill>
              <a:srgbClr val="E86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03320" y="2331720"/>
            <a:ext cx="28803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Render 雲端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FastAPI 前後端同源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20840" y="2304288"/>
            <a:ext cx="502920" cy="457200"/>
          </a:xfrm>
          <a:prstGeom prst="rightArrow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360920" y="2148840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60920" y="2148840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EAP 平台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2148840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09760" y="2148840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Gemini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752344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2752344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ChromaDB 向量庫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752344"/>
            <a:ext cx="2011680" cy="493776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2752344"/>
            <a:ext cx="201168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Graph 指標資料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3886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EAP 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3159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Hybrid RAG（V＋G）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02152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03320" y="3886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Gemini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3159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VLM／STT／備援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4224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65392" y="3886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ChromaDB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3159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向量語意檢索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26296" y="37033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 w="12700">
            <a:solidFill>
              <a:srgbClr val="3A5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27464" y="388620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python-docx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7464" y="4315968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一鍵 Word 報告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074920"/>
            <a:ext cx="10908792" cy="1188720"/>
          </a:xfrm>
          <a:prstGeom prst="roundRect">
            <a:avLst>
              <a:gd name="adj" fmla="val 8000"/>
            </a:avLst>
          </a:prstGeom>
          <a:solidFill>
            <a:srgbClr val="1E3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239512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3C9C0"/>
                </a:solidFill>
                <a:latin typeface="Microsoft JhengHei"/>
                <a:ea typeface="Microsoft JhengHei"/>
                <a:cs typeface="Microsoft JhengHei"/>
              </a:rPr>
              <a:t>已上線：</a:t>
            </a:r>
            <a:r>
              <a:rPr sz="140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Render 公開網址即可使用；EAP Hybrid RAG Chat API 可介接投研平台／券商 App／企業 IR。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8EDF4"/>
                </a:solidFill>
                <a:latin typeface="Microsoft JhengHei"/>
                <a:ea typeface="Microsoft JhengHei"/>
                <a:cs typeface="Microsoft JhengHei"/>
              </a:rPr>
              <a:t>以 Vibe Coding 串成能跑、能 Demo、能部署的系統，並補強雲端實務：串流心跳、原子寫入、路徑清理。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BENEFITS &amp; VALUE · 商業價值 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04672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效益與價值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誰在用、解決什麼、帶來什麼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02920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使用者角色</a:t>
            </a:r>
            <a:r>
              <a:rPr lang="en-US" sz="1700" b="1" dirty="0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B2B</a:t>
            </a:r>
            <a:endParaRPr sz="1700" b="1" dirty="0">
              <a:solidFill>
                <a:srgbClr val="E8654E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券商投顧：加值研究工具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金控 IR／財務：跨機構對標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投信／基金：快速盡職調查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財經媒體／教育：可信素材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7091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商業模式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50292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SaaS 訂閱：投研平台加值模組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50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API 授權：券商／IR 系統介接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05740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0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跨機構秒比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803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單位／術語自動對齊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88552" y="205740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0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7152" y="23317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數字可信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88036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公式計算＋驗證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93192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0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42062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看得懂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548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術語白話化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8552" y="3931920"/>
            <a:ext cx="2743200" cy="1645920"/>
          </a:xfrm>
          <a:prstGeom prst="roundRect">
            <a:avLst>
              <a:gd name="adj" fmla="val 8000"/>
            </a:avLst>
          </a:prstGeom>
          <a:solidFill>
            <a:srgbClr val="FDECE8"/>
          </a:solidFill>
          <a:ln w="12700">
            <a:solidFill>
              <a:srgbClr val="F0C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17152" y="42062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1E3A5F"/>
                </a:solidFill>
                <a:latin typeface="Microsoft JhengHei"/>
                <a:ea typeface="Microsoft JhengHei"/>
                <a:cs typeface="Microsoft JhengHei"/>
              </a:rPr>
              <a:t>一鍵報告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4754880"/>
            <a:ext cx="2286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434343"/>
                </a:solidFill>
                <a:latin typeface="Microsoft JhengHei"/>
                <a:ea typeface="Microsoft JhengHei"/>
                <a:cs typeface="Microsoft JhengHei"/>
              </a:rPr>
              <a:t>對話→Word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767C87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8000"/>
            </a:avLst>
          </a:prstGeom>
          <a:solidFill>
            <a:srgbClr val="14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011680"/>
            <a:ext cx="146304" cy="1828800"/>
          </a:xfrm>
          <a:prstGeom prst="rect">
            <a:avLst/>
          </a:prstGeom>
          <a:solidFill>
            <a:srgbClr val="E86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96596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以 EAP Hybrid RAG 為核心，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讓財報人人看得懂、可信、可比。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03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已上線（Render）· 公開網址即可使用 · 現場實機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434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未來：延伸更多產業（不只金控）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更多語言的法說會、即時更新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E8654E"/>
                </a:solidFill>
                <a:latin typeface="Microsoft JhengHei"/>
                <a:ea typeface="Microsoft JhengHei"/>
                <a:cs typeface="Microsoft JhengHei"/>
              </a:rPr>
              <a:t>●  </a:t>
            </a:r>
            <a:r>
              <a:rPr sz="140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從 Demo 走向可上線的投研工具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943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Thank you　·　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1452</Words>
  <Application>Microsoft Office PowerPoint</Application>
  <PresentationFormat>寬螢幕</PresentationFormat>
  <Paragraphs>306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6" baseType="lpstr">
      <vt:lpstr>Noto Sans TC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>jenny wang</dc:creator>
  <cp:keywords/>
  <dc:description>generated using python-pptx</dc:description>
  <cp:lastModifiedBy>Jenny Wang-王家蓁-奇唯-醫療科技研發處C</cp:lastModifiedBy>
  <cp:revision>9</cp:revision>
  <dcterms:created xsi:type="dcterms:W3CDTF">2013-01-27T09:14:16Z</dcterms:created>
  <dcterms:modified xsi:type="dcterms:W3CDTF">2026-08-04T06:56:15Z</dcterms:modified>
  <cp:category/>
</cp:coreProperties>
</file>