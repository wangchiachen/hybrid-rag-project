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" cy="219456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299923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 財報分析系統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37033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Vector RAG（語意檢索）  ＋  Graph RAG（精準計算）  ＋  AI Agent 路由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43159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讓散戶與分析師，秒懂並跨機構比較金控財報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5806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團隊名稱：＿＿＿＿＿＿　｜　2026 競賽 · 決賽簡報（網頁版）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TEAM INTRO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429000" cy="32004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233172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9572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965960"/>
            <a:ext cx="3429000" cy="32004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56148" y="233172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39572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3832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4023360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6175" y="1965960"/>
            <a:ext cx="3429000" cy="32004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69196" y="233172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239572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38328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1936" y="4023360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分工：資料處理／簡報與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投資人與分析師每季重複耗時的痛點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7040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121408"/>
            <a:ext cx="6035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財報資訊散落　</a:t>
            </a: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簡報、法說會錄音、公開資訊觀測站，格式全都不一樣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80944"/>
            <a:ext cx="7040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2"/>
            <a:ext cx="6035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「手續費淨收益」vs「淨手續費收入」——同義卻配不起來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50208"/>
            <a:ext cx="7040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059936"/>
            <a:ext cx="6035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單位不同（百萬／十億／億元），數字並排會誤導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19472"/>
            <a:ext cx="7040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029200"/>
            <a:ext cx="6035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一般人看不懂　</a:t>
            </a:r>
            <a:r>
              <a:rPr sz="14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ROE、NIM、資本適足率…專業術語門檻高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2011680"/>
            <a:ext cx="361188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為什麼重要？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063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5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散戶：想比較卻沒工具、看不懂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5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分析師／IR：每季手動整理，費時易錯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5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資訊落差 = 決策風險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5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把公開資料變成人人可用的洞察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DATA SOURCE &amp; PIPELINE · 第一次諮詢重點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溫決策：結構化＋非結構化，全流程解析、清洗、匯入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95728"/>
            <a:ext cx="4937760" cy="123444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72491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61518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92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67328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096512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98678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7083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9659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395728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44144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44144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127248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317296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17296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3858768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390448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904487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切段、去雜訊、統一單位、標記累計、術語對齊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590288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463600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636007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 RAG 指標庫 ＋ Vector RAG 語意庫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05856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19963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84831" y="562356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1" y="5705856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1" y="619963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9583" y="562356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9583" y="5705856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9583" y="619963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74336" y="562356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74336" y="5705856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74336" y="619963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85216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清洗重點：逐字稿切段、金額統一換算、累計指標標記、跨機構術語字典對齊。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ARCHITECTURE · 語意知識網 · 技術應用深度 20%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Hybrid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語意知識網（Semantic Knowledge Network）：雙引擎並行、AI Agent 智慧路由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2487168" cy="228600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724912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429000"/>
            <a:ext cx="208483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72384" y="3410712"/>
            <a:ext cx="347472" cy="402336"/>
          </a:xfrm>
          <a:prstGeom prst="rightArrow">
            <a:avLst/>
          </a:prstGeom>
          <a:solidFill>
            <a:srgbClr val="76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38144" y="2468880"/>
            <a:ext cx="2487168" cy="2286000"/>
          </a:xfrm>
          <a:prstGeom prst="roundRect">
            <a:avLst>
              <a:gd name="adj" fmla="val 8000"/>
            </a:avLst>
          </a:prstGeom>
          <a:solidFill>
            <a:srgbClr val="F1ECF8"/>
          </a:solidFill>
          <a:ln w="19050">
            <a:solidFill>
              <a:srgbClr val="6B4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2724912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429000"/>
            <a:ext cx="208483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3410712"/>
            <a:ext cx="347472" cy="402336"/>
          </a:xfrm>
          <a:prstGeom prst="rightArrow">
            <a:avLst/>
          </a:prstGeom>
          <a:solidFill>
            <a:srgbClr val="76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2468880"/>
            <a:ext cx="2487168" cy="228600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2E4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724912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2E4E7A"/>
                </a:solidFill>
                <a:latin typeface="Microsoft JhengHei"/>
                <a:ea typeface="Microsoft JhengHei"/>
                <a:cs typeface="Microsoft JhengHei"/>
              </a:rPr>
              <a:t>③ 雙引擎並行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429000"/>
            <a:ext cx="208483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2E4E7A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 RAG：公式精準計算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2E4E7A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 RAG：語意檢索法說會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4816" y="3410712"/>
            <a:ext cx="347472" cy="402336"/>
          </a:xfrm>
          <a:prstGeom prst="rightArrow">
            <a:avLst/>
          </a:prstGeom>
          <a:solidFill>
            <a:srgbClr val="767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0576" y="2468880"/>
            <a:ext cx="2487168" cy="2286000"/>
          </a:xfrm>
          <a:prstGeom prst="roundRect">
            <a:avLst>
              <a:gd name="adj" fmla="val 8000"/>
            </a:avLst>
          </a:prstGeom>
          <a:solidFill>
            <a:srgbClr val="F1ECF8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2724912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3429000"/>
            <a:ext cx="208483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建構於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平台的 Hybrid RAG（VectorRAG ＋ GraphRAG）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，並以 AI Agent 串接多個 API——展現資料理解與關聯推理能力。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888736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核心原則：數值一律由 Graph RAG 以公式計算，</a:t>
            </a:r>
            <a:r>
              <a:rPr sz="13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不是 LLM 生成——可信、可驗證。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技術亮點 ① · Graph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4937760" cy="384048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434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直接產生的財務數字可能「幻覺」、算錯或憑空生成，投資決策不能靠猜。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965960"/>
            <a:ext cx="5696712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2240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788920"/>
            <a:ext cx="512064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每個數值由 Graph 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公式驗證：ROE = 18.32%」讓人放心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累計指標防呆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「年初至今累計」跨季不亂比，避免誤判暴跌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QoQ／YoY 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自動計算並標示台灣慣例：上紅下綠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技術亮點 ② · 跨機構語意對齊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術語不一致？照樣對得起來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4937760" cy="384048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434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各家用詞不同：中信「股東權益報酬率(ROE)」、國泰「9M25 ROE」、玉山「ROE」；金額單位也不同（百萬／十億／億）。逐字比對配不起來。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965960"/>
            <a:ext cx="5696712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2240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788920"/>
            <a:ext cx="512064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用人工維護的定義對齊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絕對金額換算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自動統一換算成「億元」再並排比較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滑鼠移到「對齊」看實際對應的原始欄位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高精確度優先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寧可少配、也不配錯，避免誤導決策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技術亮點 ③ · AI Agent ＋ EAP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智慧路由，串接 EAP 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4937760" cy="384048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434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問題百百種：有的要精準數字、有的要經理人說法、有的兩者都要。單一檢索器會漏抓或答非所問。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965960"/>
            <a:ext cx="5696712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2240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788920"/>
            <a:ext cx="512064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Agent 路由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自動判斷 CALC／NARRATIVE／BOTH 三種路線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平台整合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串接 EAP 的 Hybrid RAG，跨公司查詢自動拆解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中文檢索優化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發現英文 embedding 對中文不準，改用中文關鍵字混合檢索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雙前端共存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 版與 EAP 版一鍵切換，同一套資料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QA 驗證 · 第一次諮詢重點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把冷數據變成可信的溫決策——數字可驗證、說法有出處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394960" cy="379476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 RAG）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43200"/>
            <a:ext cx="4846320" cy="6400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 是多少？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4846320" cy="118872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3484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公式驗證：以自有資本 ÷ 股東權益計算，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011680"/>
            <a:ext cx="5376672" cy="379476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② 檢索驗證（Vector RAG）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743200"/>
            <a:ext cx="4828032" cy="64008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83464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的發債計畫？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A：各子公司（金控／銀行／保險）均向董事會申請發債額度，依市場狀況分批發行。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80060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📄 來源：中信金控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每則答案都附出處頁，可回溯查證。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金控門面數字加大加粗，投影機也看得清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獲利／資本／資產品質…照邏輯瀏覽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懸停看趨勢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滑過卡片顯示六期 sparkline 走勢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觀點總結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一鍵讓 AI 讀完本期數字給一句話結論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 tooltip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ROE／NIM 滑上去看白話定義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965960"/>
            <a:ext cx="5605272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965960"/>
            <a:ext cx="5605272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44768" y="2121408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56831" y="212140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039112"/>
            <a:ext cx="432511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37560"/>
            <a:ext cx="48737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（此處貼上實機操作截圖，或現場 Demo）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絕對金額自動換算成億元，並排才有意義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名稱不同也配得起來（ROE／ROA／NIM…）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長條＋成長率折線，一眼看出高下與動能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點「對齊」看實際對應欄位，非黑箱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某期漏標單位，用其他期間補回並標註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965960"/>
            <a:ext cx="5605272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965960"/>
            <a:ext cx="5605272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44768" y="2121408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56831" y="212140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039112"/>
            <a:ext cx="432511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37560"/>
            <a:ext cx="48737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（此處貼上實機操作截圖，或現場 Demo）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對話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三種路由徽章，看得出走哪條引擎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答案附圖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牽涉指標時自動畫出歷史趨勢圖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開關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一鍵切換 EAP 平台回答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自動辨識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公司／期間直接打在問題裡即可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一鍵匯出 Word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真表格＋嵌入圖表的財務分析報告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965960"/>
            <a:ext cx="5605272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965960"/>
            <a:ext cx="5605272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44768" y="2121408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56831" y="212140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039112"/>
            <a:ext cx="432511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37560"/>
            <a:ext cx="48737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（此處貼上實機操作截圖，或現場 Demo）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DEMO ④ · Demo 30%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資料來源總覽 ＋ 上傳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收錄概況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公司數／期間／指標／語意段落一目了然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收錄明細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各公司各期的指標量與語意段落數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逐字稿檢視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法說會錄音轉出的逐字稿可直接讀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上傳新資料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PDF→VLM／錄音→STT，背景解析＋進度條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即時擴充　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上傳完自動更新，其他頁馬上看得到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965960"/>
            <a:ext cx="5605272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965960"/>
            <a:ext cx="5605272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44768" y="2121408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5C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56831" y="212140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039112"/>
            <a:ext cx="432511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37560"/>
            <a:ext cx="4873752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資料來源總覽 ＋ 上傳新資料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（此處貼上實機操作截圖，或現場 Demo）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介面設計與系統呈現 · 15%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介面設計與系統呈現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純手刻網頁，清楚易懂、具設計感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7685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純手刻前端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77063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HTML／CSS／JS，無框架，完全掌握每個細節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0574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227685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財報狗風格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277063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灰底白卡、近直角、無陰影——台灣金融視覺語言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057400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227685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Plotly 互動圖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77063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長條／折線／趨勢，可懸停、可讀值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77639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9709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一致設計語言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69087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深藍主色、術語 tooltip、狀態徽章貫穿全站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77639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419709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響應式版面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69087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投影機／筆電／手機都排得好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977639"/>
            <a:ext cx="3520440" cy="1600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77072" y="419709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FastAPI 同源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469087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前後端同一服務，無 CORS、部署簡單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DEPLOYMENT &amp; INNOVATION · 第二次諮詢重點 · 整合創新 15%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串接多個 API 的完整系統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286000" cy="123444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87168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63240" y="2304288"/>
            <a:ext cx="502920" cy="502920"/>
          </a:xfrm>
          <a:prstGeom prst="rightArrow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2148840"/>
            <a:ext cx="2880360" cy="123444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25400">
            <a:solidFill>
              <a:srgbClr val="6B4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37744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0840" y="2304288"/>
            <a:ext cx="502920" cy="502920"/>
          </a:xfrm>
          <a:prstGeom prst="rightArrow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60920" y="2148840"/>
            <a:ext cx="2011680" cy="512064"/>
          </a:xfrm>
          <a:prstGeom prst="roundRect">
            <a:avLst>
              <a:gd name="adj" fmla="val 8000"/>
            </a:avLst>
          </a:prstGeom>
          <a:solidFill>
            <a:srgbClr val="162C49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148840"/>
            <a:ext cx="20116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148840"/>
            <a:ext cx="2011680" cy="512064"/>
          </a:xfrm>
          <a:prstGeom prst="roundRect">
            <a:avLst>
              <a:gd name="adj" fmla="val 8000"/>
            </a:avLst>
          </a:prstGeom>
          <a:solidFill>
            <a:srgbClr val="162C49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2148840"/>
            <a:ext cx="20116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2770632"/>
            <a:ext cx="2011680" cy="512064"/>
          </a:xfrm>
          <a:prstGeom prst="roundRect">
            <a:avLst>
              <a:gd name="adj" fmla="val 8000"/>
            </a:avLst>
          </a:prstGeom>
          <a:solidFill>
            <a:srgbClr val="162C49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770632"/>
            <a:ext cx="20116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2770632"/>
            <a:ext cx="2011680" cy="512064"/>
          </a:xfrm>
          <a:prstGeom prst="roundRect">
            <a:avLst>
              <a:gd name="adj" fmla="val 8000"/>
            </a:avLst>
          </a:prstGeom>
          <a:solidFill>
            <a:srgbClr val="162C49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2770632"/>
            <a:ext cx="20116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840480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279392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 解析 · STT 轉錄 · 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02152" y="3657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840480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279392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RAG（Vector＋Graph）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657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3840480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4279392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26296" y="3657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2E4E7A"/>
          </a:solidFill>
          <a:ln w="12700">
            <a:solidFill>
              <a:srgbClr val="4A66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27464" y="3840480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27464" y="4279392"/>
            <a:ext cx="22037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2064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62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8523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公開網址即可使用（Render 部署）；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Hybrid RAG Chat API 可介接投研平台／券商 App／企業 IR 工具。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Coding（自然語言開發）短時間串成能跑、能 Demo、能部署的系統——具市場成熟度。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BENEFITS &amp; VALUE · 應用情境與商業價值 20%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使用者角色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散戶投資人：看不懂也能秒比較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分析師／研究員：省下每季手動整理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IR／財務：快速跨機構對標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5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財經學生：互動學習真實財報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商業應用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券商投顧、投資理財平台加值功能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企業 IR 對標與內部分析工具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0116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88036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單位／術語自動對齊，並排即懂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8552" y="20116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7152" y="22860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7152" y="288036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公式計算＋驗證，不怕 AI 幻覺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251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1206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術語白話化，門檻大幅降低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25196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7152" y="45262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51206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 報告，含表格與圖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011680"/>
            <a:ext cx="128016" cy="182880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9659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把散落的財報，變成人人看得懂、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可信、可比的洞察。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已上線：FastAPI ＋ 手刻網頁，部署於 Render，公開網址即可使用。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343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更多語言的法說會、即時更新的資料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5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