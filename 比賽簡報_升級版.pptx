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1" d="100"/>
          <a:sy n="81" d="100"/>
        </p:scale>
        <p:origin x="725" y="5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2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05" y="0"/>
            <a:ext cx="12191695" cy="6858000"/>
          </a:xfrm>
          <a:prstGeom prst="roundRect">
            <a:avLst>
              <a:gd name="adj" fmla="val 8000"/>
            </a:avLst>
          </a:prstGeom>
          <a:solidFill>
            <a:srgbClr val="14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1828800"/>
            <a:ext cx="146304" cy="237744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70432" y="137160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2026 精誠資訊 AI 創新競賽 · 決賽簡報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" y="18288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有你蒸好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06324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EAP Hybrid RAG 財報分析系統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84048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為投資決策導航，讓每個財報數字都可信、可比、看得懂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580644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9AB0CC"/>
                </a:solidFill>
                <a:latin typeface="Microsoft JhengHei"/>
                <a:ea typeface="Microsoft JhengHei"/>
                <a:cs typeface="Microsoft JhengHei"/>
              </a:rPr>
              <a:t>團隊名稱：＿＿＿＿＿　｜　林○○　余○○　魏○○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TEAM INTRODUCTION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團隊介紹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團隊成員、背景與分工（請填入實際內容）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11680"/>
            <a:ext cx="3429000" cy="310896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943100" y="2377440"/>
            <a:ext cx="822960" cy="822960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2441448"/>
            <a:ext cx="3429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429000"/>
            <a:ext cx="2880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＿＿＿＿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97380" y="3977639"/>
            <a:ext cx="914400" cy="4572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60119" y="4206240"/>
            <a:ext cx="27889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背景：＿＿＿＿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分工：系統架構／後端 RAG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53128" y="2011680"/>
            <a:ext cx="3429000" cy="310896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5756148" y="2377440"/>
            <a:ext cx="822960" cy="822960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453128" y="2441448"/>
            <a:ext cx="3429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27448" y="3429000"/>
            <a:ext cx="2880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＿＿＿＿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10428" y="3977639"/>
            <a:ext cx="914400" cy="4572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773168" y="4206240"/>
            <a:ext cx="27889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背景：＿＿＿＿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分工：前端網頁／資料視覺化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66175" y="2011680"/>
            <a:ext cx="3429000" cy="310896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9569196" y="2377440"/>
            <a:ext cx="822960" cy="822960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66175" y="2441448"/>
            <a:ext cx="3429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40496" y="3429000"/>
            <a:ext cx="2880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＿＿＿＿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523476" y="3977639"/>
            <a:ext cx="914400" cy="4572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586215" y="4206240"/>
            <a:ext cx="27889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背景：＿＿＿＿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分工：資料處理／簡報 Demo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PROBLEM STATEMENT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問題定義 — 外部資訊落差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投研與 IR 每季重複耗時、易錯的真實痛點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11680"/>
            <a:ext cx="694944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868680" y="2203704"/>
            <a:ext cx="457200" cy="45720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103120"/>
            <a:ext cx="594360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財報散落難整合　</a:t>
            </a: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PDF 簡報、法說會錄音、公開資訊觀測站，格式全不同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980944"/>
            <a:ext cx="694944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68680" y="3172968"/>
            <a:ext cx="457200" cy="45720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072384"/>
            <a:ext cx="594360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術語各家不一致　</a:t>
            </a: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「手續費淨收益」vs「淨手續費收入」，同義卻配不起來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950208"/>
            <a:ext cx="694944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868680" y="4142232"/>
            <a:ext cx="457200" cy="45720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4041648"/>
            <a:ext cx="594360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跨機構不能直接比　</a:t>
            </a: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單位不同（百萬／十億／億），數字並排會誤導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919472"/>
            <a:ext cx="694944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868680" y="5111496"/>
            <a:ext cx="457200" cy="45720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5010912"/>
            <a:ext cx="594360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AI 易幻覺、無出處　</a:t>
            </a: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一般 LLM 直接生成數字，投資決策不能靠猜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63840" y="2011680"/>
            <a:ext cx="3703320" cy="3803904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183879" y="228600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目標客戶（B2B）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3879" y="2880360"/>
            <a:ext cx="3200400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2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券商投顧：加值研究工具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2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金控 IR／財務：跨機構對標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2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投信／基金：快速盡職調查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2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財經媒體／教育：可信素材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COMPETITIVE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競品分析 — 為什麼只有我們行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傳統工具與一般 LLM 都解決不了「精準 ＋ 可信」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57400"/>
            <a:ext cx="2743200" cy="658368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3383280" y="2057400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ECEFF3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383280" y="2103120"/>
            <a:ext cx="260604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傳統試算表／SQL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89320" y="2057400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ECEFF3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89320" y="2103120"/>
            <a:ext cx="260604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一般 LLM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ChatGPT／Gemini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0" y="2057400"/>
            <a:ext cx="2953512" cy="658368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595360" y="2103120"/>
            <a:ext cx="2953512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有你蒸好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EAP Hybrid RAG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2715768"/>
            <a:ext cx="2743200" cy="658368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2715768"/>
            <a:ext cx="24688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精準計算財務數值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83280" y="2715768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383280" y="2715768"/>
            <a:ext cx="26060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D9A441"/>
                </a:solidFill>
                <a:latin typeface="Microsoft JhengHei"/>
                <a:ea typeface="Microsoft JhengHei"/>
                <a:cs typeface="Microsoft JhengHei"/>
              </a:rPr>
              <a:t>△ 純人工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89320" y="2715768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989320" y="2715768"/>
            <a:ext cx="26060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0392B"/>
                </a:solidFill>
                <a:latin typeface="Microsoft JhengHei"/>
                <a:ea typeface="Microsoft JhengHei"/>
                <a:cs typeface="Microsoft JhengHei"/>
              </a:rPr>
              <a:t>✕ 易算錯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595360" y="2715768"/>
            <a:ext cx="2953512" cy="658368"/>
          </a:xfrm>
          <a:prstGeom prst="roundRect">
            <a:avLst>
              <a:gd name="adj" fmla="val 8000"/>
            </a:avLst>
          </a:prstGeom>
          <a:solidFill>
            <a:srgbClr val="FDF3F0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595360" y="2715768"/>
            <a:ext cx="2953512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✓ 公式計算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3374135"/>
            <a:ext cx="2743200" cy="658368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77240" y="3374135"/>
            <a:ext cx="24688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跨機構術語對齊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383280" y="3374135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383280" y="3374135"/>
            <a:ext cx="26060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0392B"/>
                </a:solidFill>
                <a:latin typeface="Microsoft JhengHei"/>
                <a:ea typeface="Microsoft JhengHei"/>
                <a:cs typeface="Microsoft JhengHei"/>
              </a:rPr>
              <a:t>✕ 做不到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89320" y="3374135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989320" y="3374135"/>
            <a:ext cx="26060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0392B"/>
                </a:solidFill>
                <a:latin typeface="Microsoft JhengHei"/>
                <a:ea typeface="Microsoft JhengHei"/>
                <a:cs typeface="Microsoft JhengHei"/>
              </a:rPr>
              <a:t>✕ 配不起來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595360" y="3374135"/>
            <a:ext cx="2953512" cy="658368"/>
          </a:xfrm>
          <a:prstGeom prst="roundRect">
            <a:avLst>
              <a:gd name="adj" fmla="val 8000"/>
            </a:avLst>
          </a:prstGeom>
          <a:solidFill>
            <a:srgbClr val="FDF3F0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595360" y="3374135"/>
            <a:ext cx="2953512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✓ 標準字典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4032504"/>
            <a:ext cx="2743200" cy="658368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77240" y="4032504"/>
            <a:ext cx="24688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中文語意檢索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383280" y="4032504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383280" y="4032504"/>
            <a:ext cx="26060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0392B"/>
                </a:solidFill>
                <a:latin typeface="Microsoft JhengHei"/>
                <a:ea typeface="Microsoft JhengHei"/>
                <a:cs typeface="Microsoft JhengHei"/>
              </a:rPr>
              <a:t>✕ 無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989320" y="4032504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989320" y="4032504"/>
            <a:ext cx="26060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D9A441"/>
                </a:solidFill>
                <a:latin typeface="Microsoft JhengHei"/>
                <a:ea typeface="Microsoft JhengHei"/>
                <a:cs typeface="Microsoft JhengHei"/>
              </a:rPr>
              <a:t>△ 英文模型不準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595360" y="4032504"/>
            <a:ext cx="2953512" cy="658368"/>
          </a:xfrm>
          <a:prstGeom prst="roundRect">
            <a:avLst>
              <a:gd name="adj" fmla="val 8000"/>
            </a:avLst>
          </a:prstGeom>
          <a:solidFill>
            <a:srgbClr val="FDF3F0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595360" y="4032504"/>
            <a:ext cx="2953512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✓ 中文混合檢索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0080" y="4690872"/>
            <a:ext cx="2743200" cy="658368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77240" y="4690872"/>
            <a:ext cx="24688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防幻覺・可追溯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383280" y="4690872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383280" y="4690872"/>
            <a:ext cx="26060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D9A441"/>
                </a:solidFill>
                <a:latin typeface="Microsoft JhengHei"/>
                <a:ea typeface="Microsoft JhengHei"/>
                <a:cs typeface="Microsoft JhengHei"/>
              </a:rPr>
              <a:t>△ 無 AI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989320" y="4690872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989320" y="4690872"/>
            <a:ext cx="26060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0392B"/>
                </a:solidFill>
                <a:latin typeface="Microsoft JhengHei"/>
                <a:ea typeface="Microsoft JhengHei"/>
                <a:cs typeface="Microsoft JhengHei"/>
              </a:rPr>
              <a:t>✕ 無來源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595360" y="4690872"/>
            <a:ext cx="2953512" cy="658368"/>
          </a:xfrm>
          <a:prstGeom prst="roundRect">
            <a:avLst>
              <a:gd name="adj" fmla="val 8000"/>
            </a:avLst>
          </a:prstGeom>
          <a:solidFill>
            <a:srgbClr val="FDF3F0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595360" y="4690872"/>
            <a:ext cx="2953512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✓ 附公式／出處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40080" y="5349240"/>
            <a:ext cx="2743200" cy="658368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77240" y="5349240"/>
            <a:ext cx="24688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法說會非結構化解析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383280" y="5349240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3383280" y="5349240"/>
            <a:ext cx="26060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0392B"/>
                </a:solidFill>
                <a:latin typeface="Microsoft JhengHei"/>
                <a:ea typeface="Microsoft JhengHei"/>
                <a:cs typeface="Microsoft JhengHei"/>
              </a:rPr>
              <a:t>✕ 無法處理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989320" y="5349240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989320" y="5349240"/>
            <a:ext cx="26060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D9A441"/>
                </a:solidFill>
                <a:latin typeface="Microsoft JhengHei"/>
                <a:ea typeface="Microsoft JhengHei"/>
                <a:cs typeface="Microsoft JhengHei"/>
              </a:rPr>
              <a:t>△ 內容易失真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595360" y="5349240"/>
            <a:ext cx="2953512" cy="658368"/>
          </a:xfrm>
          <a:prstGeom prst="roundRect">
            <a:avLst>
              <a:gd name="adj" fmla="val 8000"/>
            </a:avLst>
          </a:prstGeom>
          <a:solidFill>
            <a:srgbClr val="FDF3F0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8595360" y="5349240"/>
            <a:ext cx="2953512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✓ STT＋切段索引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DATASET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資料集介紹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為什麼選金控財報：公開、可比、痛點明確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965960"/>
            <a:ext cx="3520440" cy="146304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960119" y="2286000"/>
            <a:ext cx="182880" cy="18288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261872" y="219456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財報簡報 PDF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19" y="2724912"/>
            <a:ext cx="3063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→ VLM 逐頁解析成指標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80560" y="1965960"/>
            <a:ext cx="3520440" cy="146304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4800600" y="2286000"/>
            <a:ext cx="182880" cy="18288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102352" y="219456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法說會錄音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0600" y="2724912"/>
            <a:ext cx="3063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→ STT 轉逐字稿 → 切段索引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21040" y="1965960"/>
            <a:ext cx="3520440" cy="146304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8641080" y="2286000"/>
            <a:ext cx="182880" cy="18288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942832" y="219456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公開資訊觀測站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41080" y="2724912"/>
            <a:ext cx="3063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→ 財報數字（資產／負債／EPS）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749039"/>
            <a:ext cx="2514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40080" y="3749039"/>
            <a:ext cx="2514600" cy="73152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80" y="3931920"/>
            <a:ext cx="2514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681728"/>
            <a:ext cx="2514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金控機構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10711" y="3749039"/>
            <a:ext cx="2514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3410711" y="3749039"/>
            <a:ext cx="2514600" cy="73152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410711" y="3931920"/>
            <a:ext cx="2514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10711" y="4681728"/>
            <a:ext cx="2514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期間季度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81344" y="3749039"/>
            <a:ext cx="2514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181344" y="3749039"/>
            <a:ext cx="2514600" cy="73152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181344" y="3931920"/>
            <a:ext cx="2514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1,255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81344" y="4681728"/>
            <a:ext cx="2514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結構化指標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51976" y="3749039"/>
            <a:ext cx="2514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8951976" y="3749039"/>
            <a:ext cx="2514600" cy="73152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951976" y="3931920"/>
            <a:ext cx="2514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360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51976" y="4681728"/>
            <a:ext cx="2514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語意段落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5486400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中信 · 國泰 · 玉山 · 第一金控——皆公開資料，最能凸顯「難以並排比較」的痛點；第一金控為上線後經網頁上傳新增，可持續擴充。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DATA STRUCTURE · 語意知識網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資料結構設計 — Semantic Knowledge Network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Hybrid Data：Graph（精準）＋ Vector（語意）雙軌並行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94560"/>
            <a:ext cx="1737360" cy="137160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2514600"/>
            <a:ext cx="17373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核心資料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Hybrid Data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069079"/>
            <a:ext cx="1737360" cy="137160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4389120"/>
            <a:ext cx="17373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使用情境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Use Case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0" y="2103120"/>
            <a:ext cx="4160520" cy="137160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743200" y="2286000"/>
            <a:ext cx="416052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Graph Data（GraphRAG）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指標關聯圖：公司→期間→指標→數值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23760" y="2103120"/>
            <a:ext cx="4343400" cy="1371600"/>
          </a:xfrm>
          <a:prstGeom prst="roundRect">
            <a:avLst>
              <a:gd name="adj" fmla="val 8000"/>
            </a:avLst>
          </a:prstGeom>
          <a:solidFill>
            <a:srgbClr val="6B4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223760" y="2286000"/>
            <a:ext cx="434340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Vector Data（VectorRAG）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法說會逐字稿：切段後語意索引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0" y="3657600"/>
            <a:ext cx="128016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743200" y="3657600"/>
            <a:ext cx="12801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個案指標表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60520" y="3657600"/>
            <a:ext cx="128016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160520" y="3657600"/>
            <a:ext cx="12801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期間節點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577840" y="3657600"/>
            <a:ext cx="128016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577840" y="3657600"/>
            <a:ext cx="12801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數值屬性（單位／累計）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23760" y="3657600"/>
            <a:ext cx="132588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223760" y="3657600"/>
            <a:ext cx="13258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發債計畫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3657600"/>
            <a:ext cx="132588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686800" y="3657600"/>
            <a:ext cx="13258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獲利說明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149840" y="3657600"/>
            <a:ext cx="132588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149840" y="3657600"/>
            <a:ext cx="13258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經理人問答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43200" y="4709160"/>
            <a:ext cx="2057400" cy="68580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743200" y="4709160"/>
            <a:ext cx="20574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分析儀表板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83480" y="4709160"/>
            <a:ext cx="2057400" cy="68580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983480" y="4709160"/>
            <a:ext cx="20574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跨機構比較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23760" y="4709160"/>
            <a:ext cx="2057400" cy="68580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223760" y="4709160"/>
            <a:ext cx="20574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問答與報告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464040" y="4709160"/>
            <a:ext cx="2057400" cy="68580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464040" y="4709160"/>
            <a:ext cx="20574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自動 Word 報告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0" y="5623560"/>
            <a:ext cx="8778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透過 公司ID／期間／指標名 跨表串接，Graph 提供可驗證數值、Vector 提供有出處的說法。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ARCHITECTURE · 技術應用深度 20%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系統技術架構 — EAP Hybrid RAG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核心＝EAP 平台 Hybrid RAG；Gemini 輔助解析與備援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23160"/>
            <a:ext cx="2487168" cy="214884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905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68096" y="2660904"/>
            <a:ext cx="208483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① 使用者問題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3337560"/>
            <a:ext cx="2084832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自然語言提問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自動辨識公司／期間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072384" y="3314700"/>
            <a:ext cx="347472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438144" y="2423160"/>
            <a:ext cx="2487168" cy="2148840"/>
          </a:xfrm>
          <a:prstGeom prst="roundRect">
            <a:avLst>
              <a:gd name="adj" fmla="val 8000"/>
            </a:avLst>
          </a:prstGeom>
          <a:solidFill>
            <a:srgbClr val="E8EDF4"/>
          </a:solidFill>
          <a:ln w="190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639312" y="2660904"/>
            <a:ext cx="208483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② AI Agent 路由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337560"/>
            <a:ext cx="2084832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判斷該算數字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還是找說法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43600" y="3314700"/>
            <a:ext cx="347472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309360" y="2423160"/>
            <a:ext cx="2487168" cy="2148840"/>
          </a:xfrm>
          <a:prstGeom prst="roundRect">
            <a:avLst>
              <a:gd name="adj" fmla="val 8000"/>
            </a:avLst>
          </a:prstGeom>
          <a:solidFill>
            <a:srgbClr val="E8EDF4"/>
          </a:solidFill>
          <a:ln w="190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10528" y="2660904"/>
            <a:ext cx="208483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③ EAP Hybrid RAG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28816" y="3337560"/>
            <a:ext cx="2084832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VectorRAG 語意檢索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GraphRAG 精準計算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814816" y="3314700"/>
            <a:ext cx="347472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9180576" y="2423160"/>
            <a:ext cx="2487168" cy="214884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905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381744" y="2660904"/>
            <a:ext cx="208483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④ 整合一致答案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00032" y="3337560"/>
            <a:ext cx="2084832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附數字驗證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＋趨勢圖／報告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937760"/>
            <a:ext cx="10972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主引擎：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EAP 平台 Hybrid RAG（VectorRAG＋GraphRAG）</a:t>
            </a:r>
            <a:r>
              <a:rPr sz="15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　｜　備援：</a:t>
            </a:r>
            <a:r>
              <a:rPr sz="15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Gemini（VLM／STT）＋本地 Vector RAG。EAP 查無資料時自動降級補上，來源標示清楚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669280"/>
            <a:ext cx="10908792" cy="658368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68680" y="5769864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數值一律由本地指標庫以公式計算，不是 LLM 生成——可信、可驗證、可稽核。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RAG PIPELINE · 四階段自動化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Hybrid RAG 處理管線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一句問題，經四道工序變成可信答案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286000"/>
            <a:ext cx="2651760" cy="30175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463039" y="2606040"/>
            <a:ext cx="1005840" cy="100584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2651760"/>
            <a:ext cx="2651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94760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改寫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279392"/>
            <a:ext cx="2651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Rewrite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663440"/>
            <a:ext cx="2194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補齊上下文與公司／期間背景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310127" y="3657600"/>
            <a:ext cx="219456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3547872" y="2286000"/>
            <a:ext cx="2651760" cy="30175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4370832" y="2606040"/>
            <a:ext cx="1005840" cy="1005840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547872" y="2651760"/>
            <a:ext cx="2651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47872" y="3794760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對齊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47872" y="4279392"/>
            <a:ext cx="2651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Terminology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76472" y="4663440"/>
            <a:ext cx="2194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術語標準化（淨手續費收入＝手續費淨收益）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6217919" y="3657600"/>
            <a:ext cx="219456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6455664" y="2286000"/>
            <a:ext cx="2651760" cy="30175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7278624" y="2606040"/>
            <a:ext cx="1005840" cy="100584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55664" y="2651760"/>
            <a:ext cx="2651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55664" y="3794760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路由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55664" y="4279392"/>
            <a:ext cx="2651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Routing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84264" y="4663440"/>
            <a:ext cx="2194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意圖分流：撈 Graph 數據 或 Vector 說法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9125711" y="3657600"/>
            <a:ext cx="219456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9363455" y="2286000"/>
            <a:ext cx="2651760" cy="30175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10186415" y="2606040"/>
            <a:ext cx="1005840" cy="1005840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363455" y="2651760"/>
            <a:ext cx="2651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63455" y="3794760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生成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63455" y="4279392"/>
            <a:ext cx="2651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Generation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92055" y="4663440"/>
            <a:ext cx="2194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融合雙軌證據，附公式與出處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6235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對應到系統：Agent 路由 ＋ 標準比率字典 ＋ 中文關鍵字混合檢索 ＋ 公式驗證。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PROMPT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Prompt 設計 — 防幻覺、可稽核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兩層設計：EAP 平台端 ＋ 本地端，讓 AI 只依證據回答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57400"/>
            <a:ext cx="5349240" cy="16459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2057400"/>
            <a:ext cx="109728" cy="16459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60119" y="2313432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角色設定 Persona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19" y="2834640"/>
            <a:ext cx="48463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財務分析助理：綜合解析結構化圖譜與非結構化法說會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057400"/>
            <a:ext cx="5349240" cy="16459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17920" y="2057400"/>
            <a:ext cx="109728" cy="164592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37959" y="2313432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動態證據 Evidence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59" y="2834640"/>
            <a:ext cx="48463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注入 Hybrid RAG 撈到的『指標數據』與『法說會文本』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931920"/>
            <a:ext cx="5349240" cy="16459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40080" y="3931920"/>
            <a:ext cx="109728" cy="1645920"/>
          </a:xfrm>
          <a:prstGeom prst="rect">
            <a:avLst/>
          </a:prstGeom>
          <a:solidFill>
            <a:srgbClr val="6B4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60119" y="4187952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6B4E9E"/>
                </a:solidFill>
                <a:latin typeface="Microsoft JhengHei"/>
                <a:ea typeface="Microsoft JhengHei"/>
                <a:cs typeface="Microsoft JhengHei"/>
              </a:rPr>
              <a:t>嚴格約束 Constraint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19" y="4709159"/>
            <a:ext cx="48463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只依證據回答、禁止編造；累計指標標記、須附來源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3931920"/>
            <a:ext cx="5349240" cy="16459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217920" y="3931920"/>
            <a:ext cx="109728" cy="164592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537959" y="4187952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標準化提問 Query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59" y="4709159"/>
            <a:ext cx="48463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帶入經管線清洗後的問題（已改寫、術語對齊）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最高守則：100% 依檢索證據回答，嚴禁編造。實測發現平台端提示詞在生成階段約束力有限，因此改由本地交叉驗證把關。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技術亮點 ① · 本地指標庫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精準計算，數字可信可驗證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03120"/>
            <a:ext cx="4937760" cy="365760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377440"/>
            <a:ext cx="4480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C0392B"/>
                </a:solidFill>
                <a:latin typeface="Microsoft JhengHei"/>
                <a:ea typeface="Microsoft JhengHei"/>
                <a:cs typeface="Microsoft JhengHei"/>
              </a:rPr>
              <a:t>痛點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880360"/>
            <a:ext cx="4434840" cy="274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LLM 直接產生的財務數字可能幻覺、算錯，投資決策不能靠猜。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2103120"/>
            <a:ext cx="5696712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72200" y="2377440"/>
            <a:ext cx="5120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解法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2926080"/>
            <a:ext cx="5120640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公式計算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數值由本地指標庫以公式算出，非 LLM 生成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公式驗證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答案附「✓ 公式驗證」讓人放心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累計防呆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年初至今累計，跨季不亂比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變化率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QoQ／YoY 自動算，台灣慣例上紅下綠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技術亮點 ② · 資料治理與跨機構對齊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Garbage in, garbage out——資料治理是 RAG 可信的根本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03120"/>
            <a:ext cx="4937760" cy="365760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377440"/>
            <a:ext cx="4480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C0392B"/>
                </a:solidFill>
                <a:latin typeface="Microsoft JhengHei"/>
                <a:ea typeface="Microsoft JhengHei"/>
                <a:cs typeface="Microsoft JhengHei"/>
              </a:rPr>
              <a:t>痛點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880360"/>
            <a:ext cx="4434840" cy="274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原始圖譜有 211 個同名 ROE 節點、數值掛在關係上，檢索常抓錯期間；單位寫法實測有 24 種，「拾億元」被誤判成「億元」，讓 92 筆存放款整批少一個量級。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2103120"/>
            <a:ext cx="5696712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72200" y="2377440"/>
            <a:ext cx="5120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解法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2926080"/>
            <a:ext cx="5120640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知識圖譜重建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每指標唯一節點（公司｜期間｜指標）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數值掛節點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不掛關係，結構上杜絕跨期誤配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量級稽核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回填 126 筆漏標、校正 150 筆換算錯誤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標準比率字典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ROE／ROA／NIM／EPS 依定義對齊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QA 驗證 · 技術深度 20%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QA 測試：檢索＋計算驗證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冷數據 → 溫決策：數字可驗證、說法有出處、雙引擎交叉核對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03120"/>
            <a:ext cx="5394960" cy="365760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2331720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① 計算驗證（本地指標庫）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2834640"/>
            <a:ext cx="4846320" cy="59436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97280" y="2880360"/>
            <a:ext cx="44805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Q：中信金控的 ROE？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566160"/>
            <a:ext cx="48463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A：股東權益報酬率 =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18.32%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206240"/>
            <a:ext cx="4846320" cy="1280160"/>
          </a:xfrm>
          <a:prstGeom prst="roundRect">
            <a:avLst>
              <a:gd name="adj" fmla="val 8000"/>
            </a:avLst>
          </a:prstGeom>
          <a:solidFill>
            <a:srgbClr val="EAF6EF"/>
          </a:solidFill>
          <a:ln w="12700">
            <a:solidFill>
              <a:srgbClr val="C6E4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97280" y="4389120"/>
            <a:ext cx="44805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✓ 公式驗證：稅後淨利 ÷ 股東權益，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非 LLM 生成，可信、可稽核。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2103120"/>
            <a:ext cx="5376672" cy="365760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46520" y="2331720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② 檢索驗證＋交叉核對（EAP）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46520" y="2834640"/>
            <a:ext cx="4828032" cy="594360"/>
          </a:xfrm>
          <a:prstGeom prst="roundRect">
            <a:avLst>
              <a:gd name="adj" fmla="val 8000"/>
            </a:avLst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29400" y="2880360"/>
            <a:ext cx="44805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Q：中信 2025Q2 發債計畫？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566160"/>
            <a:ext cx="48463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A：各子公司均向董事會申請發債額度，依市場狀況分批發行。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46520" y="4709160"/>
            <a:ext cx="4828032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629400" y="4828032"/>
            <a:ext cx="4480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📄 來源：中信 2025Q2 法說會錄音 #4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附出處可回溯；交叉核對抓到平台換算差 10 倍並標紅。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DEMO ① · 介面呈現 15% / Demo 30%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分析儀表板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48840"/>
            <a:ext cx="50292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核心指標卡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門面數字加大，投影機也看得清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依財務意義分組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獲利／資本／資產品質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單位自動補全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五層推定，涵蓋率 99.3%，推定值標＊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載入不留白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冷啟動顯示骨架與進度，不是一片空白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趨勢與術語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六期 sparkline、白話術語解釋；滑鼠、觸控、鍵盤三種操作都能開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89320" y="2011680"/>
            <a:ext cx="557784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989320" y="2011680"/>
            <a:ext cx="5577840" cy="4572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190488" y="2167128"/>
            <a:ext cx="146304" cy="146304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446520" y="2167128"/>
            <a:ext cx="146304" cy="146304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702552" y="2167128"/>
            <a:ext cx="146304" cy="146304"/>
          </a:xfrm>
          <a:prstGeom prst="ellipse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086600" y="2084832"/>
            <a:ext cx="4297679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有你蒸好 · 財報分析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3383280"/>
            <a:ext cx="484632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分析儀表板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（貼實機截圖，或現場 Demo）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DEMO ② · Demo 30%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跨機構比較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48840"/>
            <a:ext cx="50292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億元對齊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絕對金額換算億元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標準比率對照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名稱不同也配得起來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雙序列圖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長條＋成長率折線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誠實揭露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點對齊看對應欄位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缺漏單位推定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漏標自動補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89320" y="2011680"/>
            <a:ext cx="557784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989320" y="2011680"/>
            <a:ext cx="5577840" cy="4572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190488" y="2167128"/>
            <a:ext cx="146304" cy="146304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446520" y="2167128"/>
            <a:ext cx="146304" cy="146304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702552" y="2167128"/>
            <a:ext cx="146304" cy="146304"/>
          </a:xfrm>
          <a:prstGeom prst="ellipse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086600" y="2084832"/>
            <a:ext cx="4297679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有你蒸好 · 財報分析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3383280"/>
            <a:ext cx="484632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跨機構比較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（貼實機截圖，或現場 Demo）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DEMO ③ · Demo 30%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問答與報告（EAP 為主）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48840"/>
            <a:ext cx="50292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逐字串流回答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SSE 串流，先報進度再逐字輸出，不用乾等十幾秒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範圍鎖定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選定公司／期間，後續提問免重打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交叉驗證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EAP 數字與本地不符自動標紅、可一鍵取正解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Vector RAG 補強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EAP 查無資料時，改用本地逐字稿檢索再交由 EAP 生成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Gemini 輔助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備援 LLM ＋ 一鍵匯出 Word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89320" y="2011680"/>
            <a:ext cx="557784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989320" y="2011680"/>
            <a:ext cx="5577840" cy="4572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190488" y="2167128"/>
            <a:ext cx="146304" cy="146304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446520" y="2167128"/>
            <a:ext cx="146304" cy="146304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702552" y="2167128"/>
            <a:ext cx="146304" cy="146304"/>
          </a:xfrm>
          <a:prstGeom prst="ellipse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086600" y="2084832"/>
            <a:ext cx="4297679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有你蒸好 · 財報分析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3383280"/>
            <a:ext cx="484632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問答與報告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（貼實機截圖，或現場 Demo）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2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8000"/>
            </a:avLst>
          </a:prstGeom>
          <a:solidFill>
            <a:srgbClr val="14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45720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DEPLOYMENT &amp; INNOVATION · 整合創新 15%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部署架構與整合創新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46304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已上線、可介接、以 Vibe Coding 串接多 API 的完整系統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148840"/>
            <a:ext cx="2286000" cy="118872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2450592"/>
            <a:ext cx="22860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使用者瀏覽器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063240" y="2304288"/>
            <a:ext cx="502920" cy="45720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703320" y="2148840"/>
            <a:ext cx="2880360" cy="118872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2540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703320" y="2331720"/>
            <a:ext cx="28803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Render 雲端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FastAPI 前後端同源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720840" y="2304288"/>
            <a:ext cx="502920" cy="45720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360920" y="2148840"/>
            <a:ext cx="2011680" cy="493776"/>
          </a:xfrm>
          <a:prstGeom prst="roundRect">
            <a:avLst>
              <a:gd name="adj" fmla="val 8000"/>
            </a:avLst>
          </a:prstGeom>
          <a:solidFill>
            <a:srgbClr val="1E3654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60920" y="2148840"/>
            <a:ext cx="201168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EAP 平台 API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09760" y="2148840"/>
            <a:ext cx="2011680" cy="493776"/>
          </a:xfrm>
          <a:prstGeom prst="roundRect">
            <a:avLst>
              <a:gd name="adj" fmla="val 8000"/>
            </a:avLst>
          </a:prstGeom>
          <a:solidFill>
            <a:srgbClr val="1E3654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509760" y="2148840"/>
            <a:ext cx="201168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Gemini API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60920" y="2752344"/>
            <a:ext cx="2011680" cy="493776"/>
          </a:xfrm>
          <a:prstGeom prst="roundRect">
            <a:avLst>
              <a:gd name="adj" fmla="val 8000"/>
            </a:avLst>
          </a:prstGeom>
          <a:solidFill>
            <a:srgbClr val="1E3654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360920" y="2752344"/>
            <a:ext cx="201168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ChromaDB 向量庫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09760" y="2752344"/>
            <a:ext cx="2011680" cy="493776"/>
          </a:xfrm>
          <a:prstGeom prst="roundRect">
            <a:avLst>
              <a:gd name="adj" fmla="val 8000"/>
            </a:avLst>
          </a:prstGeom>
          <a:solidFill>
            <a:srgbClr val="1E3654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509760" y="2752344"/>
            <a:ext cx="201168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Graph 指標資料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3703320"/>
            <a:ext cx="2606040" cy="10972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41247" y="3886200"/>
            <a:ext cx="2194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EAP 平台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7" y="431596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Hybrid RAG（V＋G）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502152" y="3703320"/>
            <a:ext cx="2606040" cy="10972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703320" y="3886200"/>
            <a:ext cx="2194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Gemini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03320" y="431596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VLM／STT／備援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64224" y="3703320"/>
            <a:ext cx="2606040" cy="10972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565392" y="3886200"/>
            <a:ext cx="2194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ChromaDB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65392" y="431596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向量語意檢索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226296" y="3703320"/>
            <a:ext cx="2606040" cy="10972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427464" y="3886200"/>
            <a:ext cx="2194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python-docx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27464" y="431596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一鍵 Word 報告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0080" y="5074920"/>
            <a:ext cx="10908792" cy="1188720"/>
          </a:xfrm>
          <a:prstGeom prst="roundRect">
            <a:avLst>
              <a:gd name="adj" fmla="val 8000"/>
            </a:avLst>
          </a:prstGeom>
          <a:solidFill>
            <a:srgbClr val="1E36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14400" y="5239512"/>
            <a:ext cx="104241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已上線：</a:t>
            </a:r>
            <a:r>
              <a:rPr sz="1400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Render 公開網址即可使用；EAP Hybrid RAG Chat API 可介接投研平台／券商 App／企業 IR。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以 Vibe Coding 串成能跑、能 Demo、能部署的系統，並補強雲端實務：串流心跳、原子寫入、路徑清理。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BENEFITS &amp; VALUE · 商業價值 20%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效益與價值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誰在用、解決什麼、帶來什麼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57400"/>
            <a:ext cx="5029200" cy="261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dirty="0" err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使用者角色</a:t>
            </a:r>
            <a:endParaRPr sz="1700" b="1" dirty="0">
              <a:solidFill>
                <a:srgbClr val="E8654E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40080" y="2560320"/>
            <a:ext cx="502920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券商投顧：加值研究工具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金控 IR／財務：跨機構對標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投信／基金：快速盡職調查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財經媒體／教育：可信素材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709160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商業模式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212080"/>
            <a:ext cx="502920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SaaS 訂閱：投研平台加值模組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API 授權：券商／IR 系統介接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89320" y="2057400"/>
            <a:ext cx="2743200" cy="164592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F0C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0" y="2331720"/>
            <a:ext cx="2286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跨機構秒比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880360"/>
            <a:ext cx="2286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單位／術語自動對齊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88552" y="2057400"/>
            <a:ext cx="2743200" cy="164592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F0C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217152" y="2331720"/>
            <a:ext cx="2286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數字可信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7152" y="2880360"/>
            <a:ext cx="2286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公式計算＋驗證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89320" y="3931920"/>
            <a:ext cx="2743200" cy="164592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F0C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217920" y="4206240"/>
            <a:ext cx="2286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看得懂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4754880"/>
            <a:ext cx="2286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術語白話化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88552" y="3931920"/>
            <a:ext cx="2743200" cy="164592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F0C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217152" y="4206240"/>
            <a:ext cx="2286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一鍵報告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17152" y="4754880"/>
            <a:ext cx="2286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對話→Word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2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8000"/>
            </a:avLst>
          </a:prstGeom>
          <a:solidFill>
            <a:srgbClr val="14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2011680"/>
            <a:ext cx="146304" cy="182880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70432" y="1965960"/>
            <a:ext cx="100584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以 EAP Hybrid RAG 為核心，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讓財報人人看得懂、可信、可比。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0332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已上線（Render）· 公開網址即可使用 · 現場實機 Demo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343400"/>
            <a:ext cx="1005840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未來：延伸更多產業（不只金控）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更多語言的法說會、即時更新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從 Demo 走向可上線的投研工具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594360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Thank you　·　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1161</Words>
  <Application>Microsoft Office PowerPoint</Application>
  <PresentationFormat>寬螢幕</PresentationFormat>
  <Paragraphs>276</Paragraphs>
  <Slides>18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18</vt:i4>
      </vt:variant>
    </vt:vector>
  </HeadingPairs>
  <TitlesOfParts>
    <vt:vector size="22" baseType="lpstr">
      <vt:lpstr>Microsoft JhengHei</vt:lpstr>
      <vt:lpstr>Arial</vt:lpstr>
      <vt:lpstr>Calibri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subject/>
  <dc:creator/>
  <cp:keywords/>
  <dc:description>generated using python-pptx</dc:description>
  <cp:lastModifiedBy>Jenny Wang-王家蓁-奇唯-醫療科技研發處B</cp:lastModifiedBy>
  <cp:revision>3</cp:revision>
  <dcterms:created xsi:type="dcterms:W3CDTF">2013-01-27T09:14:16Z</dcterms:created>
  <dcterms:modified xsi:type="dcterms:W3CDTF">2026-07-22T06:59:35Z</dcterms:modified>
  <cp:category/>
</cp:coreProperties>
</file>